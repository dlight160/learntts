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361688"/>
            <a:ext cx="54864" cy="73152"/>
          </a:xfrm>
          <a:prstGeom prst="rect">
            <a:avLst/>
          </a:prstGeom>
          <a:solidFill>
            <a:srgbClr val="F0A50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70432" y="4214420"/>
            <a:ext cx="54864" cy="220420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883664" y="4136414"/>
            <a:ext cx="54864" cy="298426"/>
          </a:xfrm>
          <a:prstGeom prst="rect">
            <a:avLst/>
          </a:prstGeom>
          <a:solidFill>
            <a:srgbClr val="F0A500">
              <a:alpha val="3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596896" y="4164358"/>
            <a:ext cx="54864" cy="270482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3310128" y="4285110"/>
            <a:ext cx="54864" cy="149730"/>
          </a:xfrm>
          <a:prstGeom prst="rect">
            <a:avLst/>
          </a:prstGeom>
          <a:solidFill>
            <a:srgbClr val="F0A500">
              <a:alpha val="4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4023360" y="4281499"/>
            <a:ext cx="54864" cy="153341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4736592" y="4162446"/>
            <a:ext cx="54864" cy="272394"/>
          </a:xfrm>
          <a:prstGeom prst="rect">
            <a:avLst/>
          </a:prstGeom>
          <a:solidFill>
            <a:srgbClr val="F0A500">
              <a:alpha val="4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449824" y="4137099"/>
            <a:ext cx="54864" cy="29774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163056" y="4217380"/>
            <a:ext cx="54864" cy="217460"/>
          </a:xfrm>
          <a:prstGeom prst="rect">
            <a:avLst/>
          </a:prstGeom>
          <a:solidFill>
            <a:srgbClr val="F0A500">
              <a:alpha val="5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6876288" y="4357844"/>
            <a:ext cx="54864" cy="76996"/>
          </a:xfrm>
          <a:prstGeom prst="rect">
            <a:avLst/>
          </a:prstGeom>
          <a:solidFill>
            <a:srgbClr val="F0A500">
              <a:alpha val="57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4211501"/>
            <a:ext cx="54864" cy="223339"/>
          </a:xfrm>
          <a:prstGeom prst="rect">
            <a:avLst/>
          </a:prstGeom>
          <a:solidFill>
            <a:srgbClr val="F0A500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8302752" y="4135793"/>
            <a:ext cx="54864" cy="299047"/>
          </a:xfrm>
          <a:prstGeom prst="rect">
            <a:avLst/>
          </a:prstGeom>
          <a:solidFill>
            <a:srgbClr val="F0A500">
              <a:alpha val="6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371600"/>
            <a:ext cx="73152" cy="237744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13716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从 Mel 频谱到 VITS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548640" y="22860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TTS 学习之路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分钟技术分享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"/>
            <a:ext cx="8412480" cy="0"/>
          </a:xfrm>
          <a:prstGeom prst="line">
            <a:avLst/>
          </a:prstGeom>
          <a:noFill/>
          <a:ln w="1524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5056632"/>
            <a:ext cx="36576" cy="54864"/>
          </a:xfrm>
          <a:prstGeom prst="rect">
            <a:avLst/>
          </a:prstGeom>
          <a:solidFill>
            <a:srgbClr val="F0A500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4945956"/>
            <a:ext cx="36576" cy="165540"/>
          </a:xfrm>
          <a:prstGeom prst="rect">
            <a:avLst/>
          </a:prstGeom>
          <a:solidFill>
            <a:srgbClr val="F0A500">
              <a:alpha val="2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17904" y="4880416"/>
            <a:ext cx="36576" cy="231080"/>
          </a:xfrm>
          <a:prstGeom prst="rect">
            <a:avLst/>
          </a:prstGeom>
          <a:solidFill>
            <a:srgbClr val="F0A500">
              <a:alpha val="2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39696" y="4886744"/>
            <a:ext cx="36576" cy="224752"/>
          </a:xfrm>
          <a:prstGeom prst="rect">
            <a:avLst/>
          </a:prstGeom>
          <a:solidFill>
            <a:srgbClr val="F0A500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4962357"/>
            <a:ext cx="36576" cy="149139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5036845"/>
            <a:ext cx="36576" cy="74651"/>
          </a:xfrm>
          <a:prstGeom prst="rect">
            <a:avLst/>
          </a:prstGeom>
          <a:solidFill>
            <a:srgbClr val="F0A50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005072" y="4930853"/>
            <a:ext cx="36576" cy="180643"/>
          </a:xfrm>
          <a:prstGeom prst="rect">
            <a:avLst/>
          </a:prstGeom>
          <a:solidFill>
            <a:srgbClr val="F0A500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4876158"/>
            <a:ext cx="36576" cy="235338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248656" y="4895066"/>
            <a:ext cx="36576" cy="216430"/>
          </a:xfrm>
          <a:prstGeom prst="rect">
            <a:avLst/>
          </a:prstGeom>
          <a:solidFill>
            <a:srgbClr val="F0A500">
              <a:alpha val="4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870448" y="4979866"/>
            <a:ext cx="36576" cy="131630"/>
          </a:xfrm>
          <a:prstGeom prst="rect">
            <a:avLst/>
          </a:prstGeom>
          <a:solidFill>
            <a:srgbClr val="F0A500">
              <a:alpha val="4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5017291"/>
            <a:ext cx="36576" cy="94205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14032" y="4917228"/>
            <a:ext cx="36576" cy="194268"/>
          </a:xfrm>
          <a:prstGeom prst="rect">
            <a:avLst/>
          </a:prstGeom>
          <a:solidFill>
            <a:srgbClr val="F0A500">
              <a:alpha val="47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735824" y="4874018"/>
            <a:ext cx="36576" cy="237478"/>
          </a:xfrm>
          <a:prstGeom prst="rect">
            <a:avLst/>
          </a:prstGeom>
          <a:solidFill>
            <a:srgbClr val="F0A500">
              <a:alpha val="4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4905285"/>
            <a:ext cx="36576" cy="20621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全局路线图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三个阶段的接力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097280" y="1554480"/>
            <a:ext cx="54864" cy="59436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1" name="Text 19"/>
          <p:cNvSpPr/>
          <p:nvPr/>
        </p:nvSpPr>
        <p:spPr>
          <a:xfrm>
            <a:off x="1371600" y="15544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阶段1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286000" y="1554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语音信号 → Mel 频谱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286000" y="1874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语音的数字表示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097280" y="2560320"/>
            <a:ext cx="54864" cy="59436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5" name="Text 23"/>
          <p:cNvSpPr/>
          <p:nvPr/>
        </p:nvSpPr>
        <p:spPr>
          <a:xfrm>
            <a:off x="1371600" y="256032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阶段2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286000" y="2560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Mel 频谱 → 波形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2286000" y="28803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HiFi-GAN 神经声码器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097280" y="3566160"/>
            <a:ext cx="54864" cy="59436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9" name="Text 27"/>
          <p:cNvSpPr/>
          <p:nvPr/>
        </p:nvSpPr>
        <p:spPr>
          <a:xfrm>
            <a:off x="1371600" y="35661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阶段3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286000" y="35661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文本 → 语音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2286000" y="3886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VITS 端到端 TTS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371600" y="214884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371600" y="31546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"/>
            <a:ext cx="8412480" cy="0"/>
          </a:xfrm>
          <a:prstGeom prst="line">
            <a:avLst/>
          </a:prstGeom>
          <a:noFill/>
          <a:ln w="1524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5056632"/>
            <a:ext cx="36576" cy="54864"/>
          </a:xfrm>
          <a:prstGeom prst="rect">
            <a:avLst/>
          </a:prstGeom>
          <a:solidFill>
            <a:srgbClr val="F0A500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4945956"/>
            <a:ext cx="36576" cy="165540"/>
          </a:xfrm>
          <a:prstGeom prst="rect">
            <a:avLst/>
          </a:prstGeom>
          <a:solidFill>
            <a:srgbClr val="F0A500">
              <a:alpha val="2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17904" y="4880416"/>
            <a:ext cx="36576" cy="231080"/>
          </a:xfrm>
          <a:prstGeom prst="rect">
            <a:avLst/>
          </a:prstGeom>
          <a:solidFill>
            <a:srgbClr val="F0A500">
              <a:alpha val="2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39696" y="4886744"/>
            <a:ext cx="36576" cy="224752"/>
          </a:xfrm>
          <a:prstGeom prst="rect">
            <a:avLst/>
          </a:prstGeom>
          <a:solidFill>
            <a:srgbClr val="F0A500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4962357"/>
            <a:ext cx="36576" cy="149139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5036845"/>
            <a:ext cx="36576" cy="74651"/>
          </a:xfrm>
          <a:prstGeom prst="rect">
            <a:avLst/>
          </a:prstGeom>
          <a:solidFill>
            <a:srgbClr val="F0A50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005072" y="4930853"/>
            <a:ext cx="36576" cy="180643"/>
          </a:xfrm>
          <a:prstGeom prst="rect">
            <a:avLst/>
          </a:prstGeom>
          <a:solidFill>
            <a:srgbClr val="F0A500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4876158"/>
            <a:ext cx="36576" cy="235338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248656" y="4895066"/>
            <a:ext cx="36576" cy="216430"/>
          </a:xfrm>
          <a:prstGeom prst="rect">
            <a:avLst/>
          </a:prstGeom>
          <a:solidFill>
            <a:srgbClr val="F0A500">
              <a:alpha val="4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870448" y="4979866"/>
            <a:ext cx="36576" cy="131630"/>
          </a:xfrm>
          <a:prstGeom prst="rect">
            <a:avLst/>
          </a:prstGeom>
          <a:solidFill>
            <a:srgbClr val="F0A500">
              <a:alpha val="4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5017291"/>
            <a:ext cx="36576" cy="94205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14032" y="4917228"/>
            <a:ext cx="36576" cy="194268"/>
          </a:xfrm>
          <a:prstGeom prst="rect">
            <a:avLst/>
          </a:prstGeom>
          <a:solidFill>
            <a:srgbClr val="F0A500">
              <a:alpha val="47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735824" y="4874018"/>
            <a:ext cx="36576" cy="237478"/>
          </a:xfrm>
          <a:prstGeom prst="rect">
            <a:avLst/>
          </a:prstGeom>
          <a:solidFill>
            <a:srgbClr val="F0A500">
              <a:alpha val="4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4905285"/>
            <a:ext cx="36576" cy="20621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阶段1：Mel 频谱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语音的数字表示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4400" y="1554480"/>
            <a:ext cx="54864" cy="54864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1" name="Text 19"/>
          <p:cNvSpPr/>
          <p:nvPr/>
        </p:nvSpPr>
        <p:spPr>
          <a:xfrm>
            <a:off x="1188720" y="15544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737360" y="15727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波形 vs 频谱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737360" y="18745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同一个声音的两种视角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14400" y="2331720"/>
            <a:ext cx="54864" cy="54864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5" name="Text 23"/>
          <p:cNvSpPr/>
          <p:nvPr/>
        </p:nvSpPr>
        <p:spPr>
          <a:xfrm>
            <a:off x="1188720" y="23317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737360" y="23500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为什么用 Mel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737360" y="265176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三种表示的对比 —— 为什么是 80 维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14400" y="3108960"/>
            <a:ext cx="54864" cy="54864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9" name="Text 27"/>
          <p:cNvSpPr/>
          <p:nvPr/>
        </p:nvSpPr>
        <p:spPr>
          <a:xfrm>
            <a:off x="1188720" y="31089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737360" y="3127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Mel 怎么做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737360" y="342900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切帧 → 加窗 → FFT → Mel 滤波器组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14400" y="3886200"/>
            <a:ext cx="54864" cy="54864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3" name="Text 31"/>
          <p:cNvSpPr/>
          <p:nvPr/>
        </p:nvSpPr>
        <p:spPr>
          <a:xfrm>
            <a:off x="1188720" y="38862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737360" y="39044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Mel 的局限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1737360" y="420624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Griffin-Lam 重建 —— 引出阶段2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"/>
            <a:ext cx="8412480" cy="0"/>
          </a:xfrm>
          <a:prstGeom prst="line">
            <a:avLst/>
          </a:prstGeom>
          <a:noFill/>
          <a:ln w="1524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5056632"/>
            <a:ext cx="36576" cy="54864"/>
          </a:xfrm>
          <a:prstGeom prst="rect">
            <a:avLst/>
          </a:prstGeom>
          <a:solidFill>
            <a:srgbClr val="F0A500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4945956"/>
            <a:ext cx="36576" cy="165540"/>
          </a:xfrm>
          <a:prstGeom prst="rect">
            <a:avLst/>
          </a:prstGeom>
          <a:solidFill>
            <a:srgbClr val="F0A500">
              <a:alpha val="2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17904" y="4880416"/>
            <a:ext cx="36576" cy="231080"/>
          </a:xfrm>
          <a:prstGeom prst="rect">
            <a:avLst/>
          </a:prstGeom>
          <a:solidFill>
            <a:srgbClr val="F0A500">
              <a:alpha val="2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39696" y="4886744"/>
            <a:ext cx="36576" cy="224752"/>
          </a:xfrm>
          <a:prstGeom prst="rect">
            <a:avLst/>
          </a:prstGeom>
          <a:solidFill>
            <a:srgbClr val="F0A500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4962357"/>
            <a:ext cx="36576" cy="149139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5036845"/>
            <a:ext cx="36576" cy="74651"/>
          </a:xfrm>
          <a:prstGeom prst="rect">
            <a:avLst/>
          </a:prstGeom>
          <a:solidFill>
            <a:srgbClr val="F0A50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005072" y="4930853"/>
            <a:ext cx="36576" cy="180643"/>
          </a:xfrm>
          <a:prstGeom prst="rect">
            <a:avLst/>
          </a:prstGeom>
          <a:solidFill>
            <a:srgbClr val="F0A500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4876158"/>
            <a:ext cx="36576" cy="235338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248656" y="4895066"/>
            <a:ext cx="36576" cy="216430"/>
          </a:xfrm>
          <a:prstGeom prst="rect">
            <a:avLst/>
          </a:prstGeom>
          <a:solidFill>
            <a:srgbClr val="F0A500">
              <a:alpha val="4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870448" y="4979866"/>
            <a:ext cx="36576" cy="131630"/>
          </a:xfrm>
          <a:prstGeom prst="rect">
            <a:avLst/>
          </a:prstGeom>
          <a:solidFill>
            <a:srgbClr val="F0A500">
              <a:alpha val="4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5017291"/>
            <a:ext cx="36576" cy="94205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14032" y="4917228"/>
            <a:ext cx="36576" cy="194268"/>
          </a:xfrm>
          <a:prstGeom prst="rect">
            <a:avLst/>
          </a:prstGeom>
          <a:solidFill>
            <a:srgbClr val="F0A500">
              <a:alpha val="47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735824" y="4874018"/>
            <a:ext cx="36576" cy="237478"/>
          </a:xfrm>
          <a:prstGeom prst="rect">
            <a:avLst/>
          </a:prstGeom>
          <a:solidFill>
            <a:srgbClr val="F0A500">
              <a:alpha val="4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4905285"/>
            <a:ext cx="36576" cy="20621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波形 vs 频谱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阶段1：同一个声音的两种视角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1463040"/>
            <a:ext cx="3931920" cy="292608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1463040"/>
            <a:ext cx="54864" cy="292608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16002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波形 Waveform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1520" y="2103120"/>
            <a:ext cx="3474720" cy="2103120"/>
          </a:xfrm>
          <a:prstGeom prst="rect">
            <a:avLst/>
          </a:prstGeom>
          <a:noFill/>
          <a:ln/>
        </p:spPr>
        <p:txBody>
          <a:bodyPr wrap="square" lIns="76200" tIns="152400" rIns="76200" bIns="7620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横轴 = 时间，纵轴 = 振幅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文件里每个浮点数 = 声波振到什么位置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正数 → 振膜向外推，负数 → 向里拉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每秒 16000 个点 = 16kHz 采样率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看不出「男声还是女声，是 /a/ 还是 /i/」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114800" y="25603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4754880" y="1463040"/>
            <a:ext cx="3931920" cy="292608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1463040"/>
            <a:ext cx="54864" cy="292608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0" y="16002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频谱 Spectrogram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029200" y="2103120"/>
            <a:ext cx="3474720" cy="2103120"/>
          </a:xfrm>
          <a:prstGeom prst="rect">
            <a:avLst/>
          </a:prstGeom>
          <a:noFill/>
          <a:ln/>
        </p:spPr>
        <p:txBody>
          <a:bodyPr wrap="square" lIns="76200" tIns="152400" rIns="76200" bIns="7620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横轴 = 时间，纵轴 = 频率，颜色 = 能量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能量集中在低频 → 男声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高频横杠 → 摩擦音 /s/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一眼看出音色、音高、内容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语音的本质 = 不同频率的能量随时间变化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"/>
            <a:ext cx="8412480" cy="0"/>
          </a:xfrm>
          <a:prstGeom prst="line">
            <a:avLst/>
          </a:prstGeom>
          <a:noFill/>
          <a:ln w="1524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5056632"/>
            <a:ext cx="36576" cy="54864"/>
          </a:xfrm>
          <a:prstGeom prst="rect">
            <a:avLst/>
          </a:prstGeom>
          <a:solidFill>
            <a:srgbClr val="F0A500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4945956"/>
            <a:ext cx="36576" cy="165540"/>
          </a:xfrm>
          <a:prstGeom prst="rect">
            <a:avLst/>
          </a:prstGeom>
          <a:solidFill>
            <a:srgbClr val="F0A500">
              <a:alpha val="2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17904" y="4880416"/>
            <a:ext cx="36576" cy="231080"/>
          </a:xfrm>
          <a:prstGeom prst="rect">
            <a:avLst/>
          </a:prstGeom>
          <a:solidFill>
            <a:srgbClr val="F0A500">
              <a:alpha val="2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39696" y="4886744"/>
            <a:ext cx="36576" cy="224752"/>
          </a:xfrm>
          <a:prstGeom prst="rect">
            <a:avLst/>
          </a:prstGeom>
          <a:solidFill>
            <a:srgbClr val="F0A500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4962357"/>
            <a:ext cx="36576" cy="149139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5036845"/>
            <a:ext cx="36576" cy="74651"/>
          </a:xfrm>
          <a:prstGeom prst="rect">
            <a:avLst/>
          </a:prstGeom>
          <a:solidFill>
            <a:srgbClr val="F0A50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005072" y="4930853"/>
            <a:ext cx="36576" cy="180643"/>
          </a:xfrm>
          <a:prstGeom prst="rect">
            <a:avLst/>
          </a:prstGeom>
          <a:solidFill>
            <a:srgbClr val="F0A500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4876158"/>
            <a:ext cx="36576" cy="235338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248656" y="4895066"/>
            <a:ext cx="36576" cy="216430"/>
          </a:xfrm>
          <a:prstGeom prst="rect">
            <a:avLst/>
          </a:prstGeom>
          <a:solidFill>
            <a:srgbClr val="F0A500">
              <a:alpha val="4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870448" y="4979866"/>
            <a:ext cx="36576" cy="131630"/>
          </a:xfrm>
          <a:prstGeom prst="rect">
            <a:avLst/>
          </a:prstGeom>
          <a:solidFill>
            <a:srgbClr val="F0A500">
              <a:alpha val="4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5017291"/>
            <a:ext cx="36576" cy="94205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14032" y="4917228"/>
            <a:ext cx="36576" cy="194268"/>
          </a:xfrm>
          <a:prstGeom prst="rect">
            <a:avLst/>
          </a:prstGeom>
          <a:solidFill>
            <a:srgbClr val="F0A500">
              <a:alpha val="47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735824" y="4874018"/>
            <a:ext cx="36576" cy="237478"/>
          </a:xfrm>
          <a:prstGeom prst="rect">
            <a:avLst/>
          </a:prstGeom>
          <a:solidFill>
            <a:srgbClr val="F0A500">
              <a:alpha val="4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4905285"/>
            <a:ext cx="36576" cy="20621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为什么用 Mel 频谱？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三种表示的对比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1463040"/>
            <a:ext cx="2697480" cy="274320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16002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原始波形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" y="2057400"/>
            <a:ext cx="2331720" cy="1371600"/>
          </a:xfrm>
          <a:prstGeom prst="rect">
            <a:avLst/>
          </a:prstGeom>
          <a:noFill/>
          <a:ln/>
        </p:spPr>
        <p:txBody>
          <a:bodyPr wrap="square" lIns="76200" tIns="152400" rIns="76200" bIns="7620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1秒 16000+ 采样点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对相位过敏感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人耳对相位不敏感 → 模型浪费容量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维度太高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337560" y="1463040"/>
            <a:ext cx="2697480" cy="274320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520440" y="16002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线性频谱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520440" y="2057400"/>
            <a:ext cx="2331720" cy="1371600"/>
          </a:xfrm>
          <a:prstGeom prst="rect">
            <a:avLst/>
          </a:prstGeom>
          <a:noFill/>
          <a:ln/>
        </p:spPr>
        <p:txBody>
          <a:bodyPr wrap="square" lIns="76200" tIns="152400" rIns="76200" bIns="7620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1024 维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人耳非线性感知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低频敏感，高频迟钝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20440" y="36118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不符人耳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1463040"/>
            <a:ext cx="26974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1463040"/>
            <a:ext cx="2697480" cy="3657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16002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Mel 频谱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00800" y="2057400"/>
            <a:ext cx="2331720" cy="1371600"/>
          </a:xfrm>
          <a:prstGeom prst="rect">
            <a:avLst/>
          </a:prstGeom>
          <a:noFill/>
          <a:ln/>
        </p:spPr>
        <p:txBody>
          <a:bodyPr wrap="square" lIns="76200" tIns="152400" rIns="76200" bIns="7620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维（人耳感知标尺）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低频 bin 窄，高频 bin 宽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丢弃人耳不敏感信息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0" y="36118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最优平衡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维 × 86帧/秒，比波形压缩约 256 倍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"/>
            <a:ext cx="8412480" cy="0"/>
          </a:xfrm>
          <a:prstGeom prst="line">
            <a:avLst/>
          </a:prstGeom>
          <a:noFill/>
          <a:ln w="1524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5056632"/>
            <a:ext cx="36576" cy="54864"/>
          </a:xfrm>
          <a:prstGeom prst="rect">
            <a:avLst/>
          </a:prstGeom>
          <a:solidFill>
            <a:srgbClr val="F0A500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4945956"/>
            <a:ext cx="36576" cy="165540"/>
          </a:xfrm>
          <a:prstGeom prst="rect">
            <a:avLst/>
          </a:prstGeom>
          <a:solidFill>
            <a:srgbClr val="F0A500">
              <a:alpha val="2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17904" y="4880416"/>
            <a:ext cx="36576" cy="231080"/>
          </a:xfrm>
          <a:prstGeom prst="rect">
            <a:avLst/>
          </a:prstGeom>
          <a:solidFill>
            <a:srgbClr val="F0A500">
              <a:alpha val="2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39696" y="4886744"/>
            <a:ext cx="36576" cy="224752"/>
          </a:xfrm>
          <a:prstGeom prst="rect">
            <a:avLst/>
          </a:prstGeom>
          <a:solidFill>
            <a:srgbClr val="F0A500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4962357"/>
            <a:ext cx="36576" cy="149139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5036845"/>
            <a:ext cx="36576" cy="74651"/>
          </a:xfrm>
          <a:prstGeom prst="rect">
            <a:avLst/>
          </a:prstGeom>
          <a:solidFill>
            <a:srgbClr val="F0A50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005072" y="4930853"/>
            <a:ext cx="36576" cy="180643"/>
          </a:xfrm>
          <a:prstGeom prst="rect">
            <a:avLst/>
          </a:prstGeom>
          <a:solidFill>
            <a:srgbClr val="F0A500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4876158"/>
            <a:ext cx="36576" cy="235338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248656" y="4895066"/>
            <a:ext cx="36576" cy="216430"/>
          </a:xfrm>
          <a:prstGeom prst="rect">
            <a:avLst/>
          </a:prstGeom>
          <a:solidFill>
            <a:srgbClr val="F0A500">
              <a:alpha val="4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870448" y="4979866"/>
            <a:ext cx="36576" cy="131630"/>
          </a:xfrm>
          <a:prstGeom prst="rect">
            <a:avLst/>
          </a:prstGeom>
          <a:solidFill>
            <a:srgbClr val="F0A500">
              <a:alpha val="4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5017291"/>
            <a:ext cx="36576" cy="94205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14032" y="4917228"/>
            <a:ext cx="36576" cy="194268"/>
          </a:xfrm>
          <a:prstGeom prst="rect">
            <a:avLst/>
          </a:prstGeom>
          <a:solidFill>
            <a:srgbClr val="F0A500">
              <a:alpha val="47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735824" y="4874018"/>
            <a:ext cx="36576" cy="237478"/>
          </a:xfrm>
          <a:prstGeom prst="rect">
            <a:avLst/>
          </a:prstGeom>
          <a:solidFill>
            <a:srgbClr val="F0A500">
              <a:alpha val="4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4905285"/>
            <a:ext cx="36576" cy="20621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Mel 频谱怎么做？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从音频文件到 Mel 频谱的完整链路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1828800"/>
            <a:ext cx="1463040" cy="77724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" y="1828800"/>
            <a:ext cx="1463040" cy="777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波形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一维采样序列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920240" y="196596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2194560" y="1828800"/>
            <a:ext cx="1463040" cy="77724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194560" y="1828800"/>
            <a:ext cx="1463040" cy="777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切帧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帧长 25ms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0" y="196596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3931920" y="1828800"/>
            <a:ext cx="1463040" cy="77724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931920" y="1828800"/>
            <a:ext cx="1463040" cy="777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加窗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Hann 窗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394960" y="196596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5669280" y="1828800"/>
            <a:ext cx="1463040" cy="77724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669280" y="1828800"/>
            <a:ext cx="1463040" cy="777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线性频谱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132320" y="196596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406640" y="1828800"/>
            <a:ext cx="14630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406640" y="1828800"/>
            <a:ext cx="1463040" cy="777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 滤波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维输出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关键参数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40080" y="3246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A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n_fft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2560320" y="32461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频率分辨率 vs 时间分辨率的权衡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577840" y="3246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越大 → 频率分辨率 ↑，时间分辨率 ↓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40080" y="3657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A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hop_length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560320" y="3657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帧移（相邻帧重叠 ~60%）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577840" y="3657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越小 → 时间分辨率 ↑，数据量 ↑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40080" y="4069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A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n_mels = 80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560320" y="40690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 尺度上等距的三角滤波器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577840" y="4069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1024 维 → 80 维，降维 + 感知校准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"/>
            <a:ext cx="8412480" cy="0"/>
          </a:xfrm>
          <a:prstGeom prst="line">
            <a:avLst/>
          </a:prstGeom>
          <a:noFill/>
          <a:ln w="1524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5056632"/>
            <a:ext cx="36576" cy="54864"/>
          </a:xfrm>
          <a:prstGeom prst="rect">
            <a:avLst/>
          </a:prstGeom>
          <a:solidFill>
            <a:srgbClr val="F0A500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4945956"/>
            <a:ext cx="36576" cy="165540"/>
          </a:xfrm>
          <a:prstGeom prst="rect">
            <a:avLst/>
          </a:prstGeom>
          <a:solidFill>
            <a:srgbClr val="F0A500">
              <a:alpha val="2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17904" y="4880416"/>
            <a:ext cx="36576" cy="231080"/>
          </a:xfrm>
          <a:prstGeom prst="rect">
            <a:avLst/>
          </a:prstGeom>
          <a:solidFill>
            <a:srgbClr val="F0A500">
              <a:alpha val="2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39696" y="4886744"/>
            <a:ext cx="36576" cy="224752"/>
          </a:xfrm>
          <a:prstGeom prst="rect">
            <a:avLst/>
          </a:prstGeom>
          <a:solidFill>
            <a:srgbClr val="F0A500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4962357"/>
            <a:ext cx="36576" cy="149139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5036845"/>
            <a:ext cx="36576" cy="74651"/>
          </a:xfrm>
          <a:prstGeom prst="rect">
            <a:avLst/>
          </a:prstGeom>
          <a:solidFill>
            <a:srgbClr val="F0A50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005072" y="4930853"/>
            <a:ext cx="36576" cy="180643"/>
          </a:xfrm>
          <a:prstGeom prst="rect">
            <a:avLst/>
          </a:prstGeom>
          <a:solidFill>
            <a:srgbClr val="F0A500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4876158"/>
            <a:ext cx="36576" cy="235338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248656" y="4895066"/>
            <a:ext cx="36576" cy="216430"/>
          </a:xfrm>
          <a:prstGeom prst="rect">
            <a:avLst/>
          </a:prstGeom>
          <a:solidFill>
            <a:srgbClr val="F0A500">
              <a:alpha val="4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870448" y="4979866"/>
            <a:ext cx="36576" cy="131630"/>
          </a:xfrm>
          <a:prstGeom prst="rect">
            <a:avLst/>
          </a:prstGeom>
          <a:solidFill>
            <a:srgbClr val="F0A500">
              <a:alpha val="4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5017291"/>
            <a:ext cx="36576" cy="94205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14032" y="4917228"/>
            <a:ext cx="36576" cy="194268"/>
          </a:xfrm>
          <a:prstGeom prst="rect">
            <a:avLst/>
          </a:prstGeom>
          <a:solidFill>
            <a:srgbClr val="F0A500">
              <a:alpha val="47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735824" y="4874018"/>
            <a:ext cx="36576" cy="237478"/>
          </a:xfrm>
          <a:prstGeom prst="rect">
            <a:avLst/>
          </a:prstGeom>
          <a:solidFill>
            <a:srgbClr val="F0A500">
              <a:alpha val="4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4905285"/>
            <a:ext cx="36576" cy="20621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Mel 频谱的局限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Griffin-Lam 重建 → 引出阶段2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1463040"/>
            <a:ext cx="8229600" cy="292608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1520" y="16002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Griffin-Lam 从 Mel 重建波形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31520" y="2148840"/>
            <a:ext cx="7680960" cy="1645920"/>
          </a:xfrm>
          <a:prstGeom prst="rect">
            <a:avLst/>
          </a:prstGeom>
          <a:noFill/>
          <a:ln/>
        </p:spPr>
        <p:txBody>
          <a:bodyPr wrap="square" lIns="76200" tIns="152400" rIns="76200" bIns="7620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STFT 输出是复数（幅度 + 相位），Mel 只保留幅度，丢弃相位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算法从幅度迭代猜测相位 → 重建音频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听感对比：原始 vs GL 重建 → 明显「纸杯声」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 是高效的中间表示，但从它重建回波形 — 质量有限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31520" y="3886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 播放 GL 重建 vs 原始音频对比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"/>
            <a:ext cx="8412480" cy="0"/>
          </a:xfrm>
          <a:prstGeom prst="line">
            <a:avLst/>
          </a:prstGeom>
          <a:noFill/>
          <a:ln w="1524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5056632"/>
            <a:ext cx="36576" cy="54864"/>
          </a:xfrm>
          <a:prstGeom prst="rect">
            <a:avLst/>
          </a:prstGeom>
          <a:solidFill>
            <a:srgbClr val="F0A500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4945956"/>
            <a:ext cx="36576" cy="165540"/>
          </a:xfrm>
          <a:prstGeom prst="rect">
            <a:avLst/>
          </a:prstGeom>
          <a:solidFill>
            <a:srgbClr val="F0A500">
              <a:alpha val="2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17904" y="4880416"/>
            <a:ext cx="36576" cy="231080"/>
          </a:xfrm>
          <a:prstGeom prst="rect">
            <a:avLst/>
          </a:prstGeom>
          <a:solidFill>
            <a:srgbClr val="F0A500">
              <a:alpha val="2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39696" y="4886744"/>
            <a:ext cx="36576" cy="224752"/>
          </a:xfrm>
          <a:prstGeom prst="rect">
            <a:avLst/>
          </a:prstGeom>
          <a:solidFill>
            <a:srgbClr val="F0A500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4962357"/>
            <a:ext cx="36576" cy="149139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5036845"/>
            <a:ext cx="36576" cy="74651"/>
          </a:xfrm>
          <a:prstGeom prst="rect">
            <a:avLst/>
          </a:prstGeom>
          <a:solidFill>
            <a:srgbClr val="F0A50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005072" y="4930853"/>
            <a:ext cx="36576" cy="180643"/>
          </a:xfrm>
          <a:prstGeom prst="rect">
            <a:avLst/>
          </a:prstGeom>
          <a:solidFill>
            <a:srgbClr val="F0A500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4876158"/>
            <a:ext cx="36576" cy="235338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248656" y="4895066"/>
            <a:ext cx="36576" cy="216430"/>
          </a:xfrm>
          <a:prstGeom prst="rect">
            <a:avLst/>
          </a:prstGeom>
          <a:solidFill>
            <a:srgbClr val="F0A500">
              <a:alpha val="4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870448" y="4979866"/>
            <a:ext cx="36576" cy="131630"/>
          </a:xfrm>
          <a:prstGeom prst="rect">
            <a:avLst/>
          </a:prstGeom>
          <a:solidFill>
            <a:srgbClr val="F0A500">
              <a:alpha val="4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5017291"/>
            <a:ext cx="36576" cy="94205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14032" y="4917228"/>
            <a:ext cx="36576" cy="194268"/>
          </a:xfrm>
          <a:prstGeom prst="rect">
            <a:avLst/>
          </a:prstGeom>
          <a:solidFill>
            <a:srgbClr val="F0A500">
              <a:alpha val="47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735824" y="4874018"/>
            <a:ext cx="36576" cy="237478"/>
          </a:xfrm>
          <a:prstGeom prst="rect">
            <a:avLst/>
          </a:prstGeom>
          <a:solidFill>
            <a:srgbClr val="F0A500">
              <a:alpha val="4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4905285"/>
            <a:ext cx="36576" cy="20621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阶段2：HiFi-GAN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神经声码器 · Mel → 波形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4400" y="1371600"/>
            <a:ext cx="54864" cy="5029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1" name="Text 19"/>
          <p:cNvSpPr/>
          <p:nvPr/>
        </p:nvSpPr>
        <p:spPr>
          <a:xfrm>
            <a:off x="1188720" y="137160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737360" y="1389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核心问题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737360" y="16459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Mel(80,T) → 波形(1,T×256)，256倍上采样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14400" y="2029968"/>
            <a:ext cx="54864" cy="5029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5" name="Text 23"/>
          <p:cNvSpPr/>
          <p:nvPr/>
        </p:nvSpPr>
        <p:spPr>
          <a:xfrm>
            <a:off x="1188720" y="2029968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737360" y="20482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Generator 逐级上采样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737360" y="230428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×8 → ×8 → ×2 → ×2，每级贡献不同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14400" y="2688336"/>
            <a:ext cx="54864" cy="5029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9" name="Text 27"/>
          <p:cNvSpPr/>
          <p:nvPr/>
        </p:nvSpPr>
        <p:spPr>
          <a:xfrm>
            <a:off x="1188720" y="268833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737360" y="27066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MRF 三路抛光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737360" y="2962656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不同感受野同时检查，不留死角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14400" y="3346704"/>
            <a:ext cx="54864" cy="5029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3" name="Text 31"/>
          <p:cNvSpPr/>
          <p:nvPr/>
        </p:nvSpPr>
        <p:spPr>
          <a:xfrm>
            <a:off x="1188720" y="3346704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73736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三种 Loss 的分工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1737360" y="3621024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 Loss（内容）+ GAN Loss（逼真）+ FM Loss（稳定）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914400" y="4005072"/>
            <a:ext cx="54864" cy="5029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7" name="Text 35"/>
          <p:cNvSpPr/>
          <p:nvPr/>
        </p:nvSpPr>
        <p:spPr>
          <a:xfrm>
            <a:off x="1188720" y="400507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737360" y="4023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MPD + MSD 双判别器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1737360" y="427939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周期正确 + 局部波形干净，缺一不可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"/>
            <a:ext cx="8412480" cy="0"/>
          </a:xfrm>
          <a:prstGeom prst="line">
            <a:avLst/>
          </a:prstGeom>
          <a:noFill/>
          <a:ln w="1524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5056632"/>
            <a:ext cx="36576" cy="54864"/>
          </a:xfrm>
          <a:prstGeom prst="rect">
            <a:avLst/>
          </a:prstGeom>
          <a:solidFill>
            <a:srgbClr val="F0A500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4945956"/>
            <a:ext cx="36576" cy="165540"/>
          </a:xfrm>
          <a:prstGeom prst="rect">
            <a:avLst/>
          </a:prstGeom>
          <a:solidFill>
            <a:srgbClr val="F0A500">
              <a:alpha val="2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17904" y="4880416"/>
            <a:ext cx="36576" cy="231080"/>
          </a:xfrm>
          <a:prstGeom prst="rect">
            <a:avLst/>
          </a:prstGeom>
          <a:solidFill>
            <a:srgbClr val="F0A500">
              <a:alpha val="2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39696" y="4886744"/>
            <a:ext cx="36576" cy="224752"/>
          </a:xfrm>
          <a:prstGeom prst="rect">
            <a:avLst/>
          </a:prstGeom>
          <a:solidFill>
            <a:srgbClr val="F0A500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4962357"/>
            <a:ext cx="36576" cy="149139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5036845"/>
            <a:ext cx="36576" cy="74651"/>
          </a:xfrm>
          <a:prstGeom prst="rect">
            <a:avLst/>
          </a:prstGeom>
          <a:solidFill>
            <a:srgbClr val="F0A50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005072" y="4930853"/>
            <a:ext cx="36576" cy="180643"/>
          </a:xfrm>
          <a:prstGeom prst="rect">
            <a:avLst/>
          </a:prstGeom>
          <a:solidFill>
            <a:srgbClr val="F0A500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4876158"/>
            <a:ext cx="36576" cy="235338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248656" y="4895066"/>
            <a:ext cx="36576" cy="216430"/>
          </a:xfrm>
          <a:prstGeom prst="rect">
            <a:avLst/>
          </a:prstGeom>
          <a:solidFill>
            <a:srgbClr val="F0A500">
              <a:alpha val="4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870448" y="4979866"/>
            <a:ext cx="36576" cy="131630"/>
          </a:xfrm>
          <a:prstGeom prst="rect">
            <a:avLst/>
          </a:prstGeom>
          <a:solidFill>
            <a:srgbClr val="F0A500">
              <a:alpha val="4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5017291"/>
            <a:ext cx="36576" cy="94205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14032" y="4917228"/>
            <a:ext cx="36576" cy="194268"/>
          </a:xfrm>
          <a:prstGeom prst="rect">
            <a:avLst/>
          </a:prstGeom>
          <a:solidFill>
            <a:srgbClr val="F0A500">
              <a:alpha val="47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735824" y="4874018"/>
            <a:ext cx="36576" cy="237478"/>
          </a:xfrm>
          <a:prstGeom prst="rect">
            <a:avLst/>
          </a:prstGeom>
          <a:solidFill>
            <a:srgbClr val="F0A500">
              <a:alpha val="4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4905285"/>
            <a:ext cx="36576" cy="20621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HiFi-GAN：从 Mel 到波形的超分辨率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阶段2 · 核心问题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16459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256×</a:t>
            </a:r>
            <a:endParaRPr lang="en-US" sz="4800" dirty="0"/>
          </a:p>
        </p:txBody>
      </p:sp>
      <p:sp>
        <p:nvSpPr>
          <p:cNvPr id="21" name="Text 19"/>
          <p:cNvSpPr/>
          <p:nvPr/>
        </p:nvSpPr>
        <p:spPr>
          <a:xfrm>
            <a:off x="64008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上采样倍率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Mel (80, T)  →  波形 (1, T×256)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457200" y="2651760"/>
            <a:ext cx="8229600" cy="210312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31520" y="2834640"/>
            <a:ext cx="7680960" cy="1737360"/>
          </a:xfrm>
          <a:prstGeom prst="rect">
            <a:avLst/>
          </a:prstGeom>
          <a:noFill/>
          <a:ln/>
        </p:spPr>
        <p:txBody>
          <a:bodyPr wrap="square" lIns="76200" tIns="152400" rIns="76200" bIns="7620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这不是简单的反变换——这是一个生成问题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重建像「蒙着布说话」→ 需要学一个解码器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核心思路：用 GAN 对抗训练，让判别器逼 Generator 生成逼真波形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逐级上采样 ×8 → ×8 → ×2 → ×2，每级用 MRF 抛光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"/>
            <a:ext cx="8412480" cy="0"/>
          </a:xfrm>
          <a:prstGeom prst="line">
            <a:avLst/>
          </a:prstGeom>
          <a:noFill/>
          <a:ln w="1524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5056632"/>
            <a:ext cx="36576" cy="54864"/>
          </a:xfrm>
          <a:prstGeom prst="rect">
            <a:avLst/>
          </a:prstGeom>
          <a:solidFill>
            <a:srgbClr val="F0A500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4945956"/>
            <a:ext cx="36576" cy="165540"/>
          </a:xfrm>
          <a:prstGeom prst="rect">
            <a:avLst/>
          </a:prstGeom>
          <a:solidFill>
            <a:srgbClr val="F0A500">
              <a:alpha val="2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17904" y="4880416"/>
            <a:ext cx="36576" cy="231080"/>
          </a:xfrm>
          <a:prstGeom prst="rect">
            <a:avLst/>
          </a:prstGeom>
          <a:solidFill>
            <a:srgbClr val="F0A500">
              <a:alpha val="2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39696" y="4886744"/>
            <a:ext cx="36576" cy="224752"/>
          </a:xfrm>
          <a:prstGeom prst="rect">
            <a:avLst/>
          </a:prstGeom>
          <a:solidFill>
            <a:srgbClr val="F0A500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4962357"/>
            <a:ext cx="36576" cy="149139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5036845"/>
            <a:ext cx="36576" cy="74651"/>
          </a:xfrm>
          <a:prstGeom prst="rect">
            <a:avLst/>
          </a:prstGeom>
          <a:solidFill>
            <a:srgbClr val="F0A50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005072" y="4930853"/>
            <a:ext cx="36576" cy="180643"/>
          </a:xfrm>
          <a:prstGeom prst="rect">
            <a:avLst/>
          </a:prstGeom>
          <a:solidFill>
            <a:srgbClr val="F0A500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4876158"/>
            <a:ext cx="36576" cy="235338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248656" y="4895066"/>
            <a:ext cx="36576" cy="216430"/>
          </a:xfrm>
          <a:prstGeom prst="rect">
            <a:avLst/>
          </a:prstGeom>
          <a:solidFill>
            <a:srgbClr val="F0A500">
              <a:alpha val="4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870448" y="4979866"/>
            <a:ext cx="36576" cy="131630"/>
          </a:xfrm>
          <a:prstGeom prst="rect">
            <a:avLst/>
          </a:prstGeom>
          <a:solidFill>
            <a:srgbClr val="F0A500">
              <a:alpha val="4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5017291"/>
            <a:ext cx="36576" cy="94205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14032" y="4917228"/>
            <a:ext cx="36576" cy="194268"/>
          </a:xfrm>
          <a:prstGeom prst="rect">
            <a:avLst/>
          </a:prstGeom>
          <a:solidFill>
            <a:srgbClr val="F0A500">
              <a:alpha val="47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735824" y="4874018"/>
            <a:ext cx="36576" cy="237478"/>
          </a:xfrm>
          <a:prstGeom prst="rect">
            <a:avLst/>
          </a:prstGeom>
          <a:solidFill>
            <a:srgbClr val="F0A500">
              <a:alpha val="4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4905285"/>
            <a:ext cx="36576" cy="20621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Generator：逐级上采样，每级贡献不同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×8 → ×8 → ×2 → ×2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65760" y="1417320"/>
            <a:ext cx="1920240" cy="256032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417320"/>
            <a:ext cx="1920240" cy="3657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15544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A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up1 + MRF1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1783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×8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57200" y="2240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节奏和响度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7200" y="2514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从帧级信息展开到音节级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30175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「头在哪儿、身子在哪儿」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423160" y="1417320"/>
            <a:ext cx="1920240" cy="256032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423160" y="1417320"/>
            <a:ext cx="1920240" cy="3657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9" name="Text 27"/>
          <p:cNvSpPr/>
          <p:nvPr/>
        </p:nvSpPr>
        <p:spPr>
          <a:xfrm>
            <a:off x="2514600" y="15544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A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up2 + MRF2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514600" y="1783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×8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2514600" y="2240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旋律轮廓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514600" y="2514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共振峰过渡 + 基频连续变化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514600" y="30175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「五官位置——表情」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80560" y="1417320"/>
            <a:ext cx="1920240" cy="256032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480560" y="1417320"/>
            <a:ext cx="1920240" cy="3657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0" y="15544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A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up3 + MRF3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572000" y="1783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×2</a:t>
            </a:r>
            <a:endParaRPr lang="en-US" sz="2800" dirty="0"/>
          </a:p>
        </p:txBody>
      </p:sp>
      <p:sp>
        <p:nvSpPr>
          <p:cNvPr id="38" name="Text 36"/>
          <p:cNvSpPr/>
          <p:nvPr/>
        </p:nvSpPr>
        <p:spPr>
          <a:xfrm>
            <a:off x="4572000" y="2240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高频谐波纹理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4572000" y="2514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摩擦音噪声、气息声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0" y="30175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「皮肤纹理」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537960" y="1417320"/>
            <a:ext cx="1920240" cy="256032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537960" y="1417320"/>
            <a:ext cx="1920240" cy="3657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43" name="Text 41"/>
          <p:cNvSpPr/>
          <p:nvPr/>
        </p:nvSpPr>
        <p:spPr>
          <a:xfrm>
            <a:off x="6629400" y="15544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A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up4 + MRF4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629400" y="1783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×2</a:t>
            </a:r>
            <a:endParaRPr lang="en-US" sz="2800" dirty="0"/>
          </a:p>
        </p:txBody>
      </p:sp>
      <p:sp>
        <p:nvSpPr>
          <p:cNvPr id="45" name="Text 43"/>
          <p:cNvSpPr/>
          <p:nvPr/>
        </p:nvSpPr>
        <p:spPr>
          <a:xfrm>
            <a:off x="6629400" y="2240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气息/摩擦音细节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629400" y="2514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最后抛光 → 真人质感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629400" y="30175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「就是真人」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" y="40233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为什么分 4 步，不一步到位 ×256？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76200" tIns="152400" rIns="76200" bIns="7620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一步 ×256 → 棋盘格伪影严重，参数爆炸。分步：每步小幅拉伸(kernel=16/4) + MRF 及时抛光，逐级累积不留死角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"/>
            <a:ext cx="8412480" cy="0"/>
          </a:xfrm>
          <a:prstGeom prst="line">
            <a:avLst/>
          </a:prstGeom>
          <a:noFill/>
          <a:ln w="1524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5056632"/>
            <a:ext cx="36576" cy="54864"/>
          </a:xfrm>
          <a:prstGeom prst="rect">
            <a:avLst/>
          </a:prstGeom>
          <a:solidFill>
            <a:srgbClr val="F0A500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4945956"/>
            <a:ext cx="36576" cy="165540"/>
          </a:xfrm>
          <a:prstGeom prst="rect">
            <a:avLst/>
          </a:prstGeom>
          <a:solidFill>
            <a:srgbClr val="F0A500">
              <a:alpha val="2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17904" y="4880416"/>
            <a:ext cx="36576" cy="231080"/>
          </a:xfrm>
          <a:prstGeom prst="rect">
            <a:avLst/>
          </a:prstGeom>
          <a:solidFill>
            <a:srgbClr val="F0A500">
              <a:alpha val="2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39696" y="4886744"/>
            <a:ext cx="36576" cy="224752"/>
          </a:xfrm>
          <a:prstGeom prst="rect">
            <a:avLst/>
          </a:prstGeom>
          <a:solidFill>
            <a:srgbClr val="F0A500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4962357"/>
            <a:ext cx="36576" cy="149139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5036845"/>
            <a:ext cx="36576" cy="74651"/>
          </a:xfrm>
          <a:prstGeom prst="rect">
            <a:avLst/>
          </a:prstGeom>
          <a:solidFill>
            <a:srgbClr val="F0A50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005072" y="4930853"/>
            <a:ext cx="36576" cy="180643"/>
          </a:xfrm>
          <a:prstGeom prst="rect">
            <a:avLst/>
          </a:prstGeom>
          <a:solidFill>
            <a:srgbClr val="F0A500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4876158"/>
            <a:ext cx="36576" cy="235338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248656" y="4895066"/>
            <a:ext cx="36576" cy="216430"/>
          </a:xfrm>
          <a:prstGeom prst="rect">
            <a:avLst/>
          </a:prstGeom>
          <a:solidFill>
            <a:srgbClr val="F0A500">
              <a:alpha val="4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870448" y="4979866"/>
            <a:ext cx="36576" cy="131630"/>
          </a:xfrm>
          <a:prstGeom prst="rect">
            <a:avLst/>
          </a:prstGeom>
          <a:solidFill>
            <a:srgbClr val="F0A500">
              <a:alpha val="4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5017291"/>
            <a:ext cx="36576" cy="94205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14032" y="4917228"/>
            <a:ext cx="36576" cy="194268"/>
          </a:xfrm>
          <a:prstGeom prst="rect">
            <a:avLst/>
          </a:prstGeom>
          <a:solidFill>
            <a:srgbClr val="F0A500">
              <a:alpha val="47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735824" y="4874018"/>
            <a:ext cx="36576" cy="237478"/>
          </a:xfrm>
          <a:prstGeom prst="rect">
            <a:avLst/>
          </a:prstGeom>
          <a:solidFill>
            <a:srgbClr val="F0A500">
              <a:alpha val="4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4905285"/>
            <a:ext cx="36576" cy="20621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MRF：三路并发的「抛光」机制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Multi-Receptive Field Fusion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1463040"/>
            <a:ext cx="2697480" cy="201168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1463040"/>
            <a:ext cx="2697480" cy="3657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16002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A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ResBlock(k=3, dil=[1,3,5])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" y="21031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极高频纹理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24688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摩擦音的噪声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337560" y="1463040"/>
            <a:ext cx="2697480" cy="201168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337560" y="1463040"/>
            <a:ext cx="2697480" cy="3657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7" name="Text 25"/>
          <p:cNvSpPr/>
          <p:nvPr/>
        </p:nvSpPr>
        <p:spPr>
          <a:xfrm>
            <a:off x="3474720" y="16002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A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ResBlock(k=7, dil=[1,3,5])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74720" y="21031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中高频过渡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3474720" y="24688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共振峰迁移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217920" y="1463040"/>
            <a:ext cx="2697480" cy="201168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217920" y="1463040"/>
            <a:ext cx="2697480" cy="3657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2" name="Text 30"/>
          <p:cNvSpPr/>
          <p:nvPr/>
        </p:nvSpPr>
        <p:spPr>
          <a:xfrm>
            <a:off x="6355080" y="16002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A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ResBlock(k=11, dil=[1,3,5])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55080" y="21031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低频周期结构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355080" y="24688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基频 F0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371600" y="3566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三路求和  ↓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三把不同粗细的锉刀同时抛光，不留死角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"/>
            <a:ext cx="8412480" cy="0"/>
          </a:xfrm>
          <a:prstGeom prst="line">
            <a:avLst/>
          </a:prstGeom>
          <a:noFill/>
          <a:ln w="1524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5056632"/>
            <a:ext cx="36576" cy="54864"/>
          </a:xfrm>
          <a:prstGeom prst="rect">
            <a:avLst/>
          </a:prstGeom>
          <a:solidFill>
            <a:srgbClr val="F0A500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4945956"/>
            <a:ext cx="36576" cy="165540"/>
          </a:xfrm>
          <a:prstGeom prst="rect">
            <a:avLst/>
          </a:prstGeom>
          <a:solidFill>
            <a:srgbClr val="F0A500">
              <a:alpha val="2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17904" y="4880416"/>
            <a:ext cx="36576" cy="231080"/>
          </a:xfrm>
          <a:prstGeom prst="rect">
            <a:avLst/>
          </a:prstGeom>
          <a:solidFill>
            <a:srgbClr val="F0A500">
              <a:alpha val="2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39696" y="4886744"/>
            <a:ext cx="36576" cy="224752"/>
          </a:xfrm>
          <a:prstGeom prst="rect">
            <a:avLst/>
          </a:prstGeom>
          <a:solidFill>
            <a:srgbClr val="F0A500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4962357"/>
            <a:ext cx="36576" cy="149139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5036845"/>
            <a:ext cx="36576" cy="74651"/>
          </a:xfrm>
          <a:prstGeom prst="rect">
            <a:avLst/>
          </a:prstGeom>
          <a:solidFill>
            <a:srgbClr val="F0A50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005072" y="4930853"/>
            <a:ext cx="36576" cy="180643"/>
          </a:xfrm>
          <a:prstGeom prst="rect">
            <a:avLst/>
          </a:prstGeom>
          <a:solidFill>
            <a:srgbClr val="F0A500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4876158"/>
            <a:ext cx="36576" cy="235338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248656" y="4895066"/>
            <a:ext cx="36576" cy="216430"/>
          </a:xfrm>
          <a:prstGeom prst="rect">
            <a:avLst/>
          </a:prstGeom>
          <a:solidFill>
            <a:srgbClr val="F0A500">
              <a:alpha val="4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870448" y="4979866"/>
            <a:ext cx="36576" cy="131630"/>
          </a:xfrm>
          <a:prstGeom prst="rect">
            <a:avLst/>
          </a:prstGeom>
          <a:solidFill>
            <a:srgbClr val="F0A500">
              <a:alpha val="4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5017291"/>
            <a:ext cx="36576" cy="94205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14032" y="4917228"/>
            <a:ext cx="36576" cy="194268"/>
          </a:xfrm>
          <a:prstGeom prst="rect">
            <a:avLst/>
          </a:prstGeom>
          <a:solidFill>
            <a:srgbClr val="F0A500">
              <a:alpha val="47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735824" y="4874018"/>
            <a:ext cx="36576" cy="237478"/>
          </a:xfrm>
          <a:prstGeom prst="rect">
            <a:avLst/>
          </a:prstGeom>
          <a:solidFill>
            <a:srgbClr val="F0A500">
              <a:alpha val="4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4905285"/>
            <a:ext cx="36576" cy="20621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三种 Loss 的分工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只用 Mel Loss → 输出「平均化」的模糊波形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31520"/>
                <a:gridCol w="2926080"/>
                <a:gridCol w="2926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34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34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权重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34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作用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34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比喻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A50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×45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内容保真度，约束频谱包络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地图 — 内容别错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A50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×1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逼真度，骗过判别器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演技 — 自然不假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A50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×2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稠密梯度，稳定训练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辅导 — 细节纠正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让判别器看完整波形（12800 维），发现 Mel 看不到的失真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"/>
            <a:ext cx="8412480" cy="0"/>
          </a:xfrm>
          <a:prstGeom prst="line">
            <a:avLst/>
          </a:prstGeom>
          <a:noFill/>
          <a:ln w="1524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5056632"/>
            <a:ext cx="36576" cy="54864"/>
          </a:xfrm>
          <a:prstGeom prst="rect">
            <a:avLst/>
          </a:prstGeom>
          <a:solidFill>
            <a:srgbClr val="F0A500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4945956"/>
            <a:ext cx="36576" cy="165540"/>
          </a:xfrm>
          <a:prstGeom prst="rect">
            <a:avLst/>
          </a:prstGeom>
          <a:solidFill>
            <a:srgbClr val="F0A500">
              <a:alpha val="2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17904" y="4880416"/>
            <a:ext cx="36576" cy="231080"/>
          </a:xfrm>
          <a:prstGeom prst="rect">
            <a:avLst/>
          </a:prstGeom>
          <a:solidFill>
            <a:srgbClr val="F0A500">
              <a:alpha val="2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39696" y="4886744"/>
            <a:ext cx="36576" cy="224752"/>
          </a:xfrm>
          <a:prstGeom prst="rect">
            <a:avLst/>
          </a:prstGeom>
          <a:solidFill>
            <a:srgbClr val="F0A500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4962357"/>
            <a:ext cx="36576" cy="149139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5036845"/>
            <a:ext cx="36576" cy="74651"/>
          </a:xfrm>
          <a:prstGeom prst="rect">
            <a:avLst/>
          </a:prstGeom>
          <a:solidFill>
            <a:srgbClr val="F0A50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005072" y="4930853"/>
            <a:ext cx="36576" cy="180643"/>
          </a:xfrm>
          <a:prstGeom prst="rect">
            <a:avLst/>
          </a:prstGeom>
          <a:solidFill>
            <a:srgbClr val="F0A500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4876158"/>
            <a:ext cx="36576" cy="235338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248656" y="4895066"/>
            <a:ext cx="36576" cy="216430"/>
          </a:xfrm>
          <a:prstGeom prst="rect">
            <a:avLst/>
          </a:prstGeom>
          <a:solidFill>
            <a:srgbClr val="F0A500">
              <a:alpha val="4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870448" y="4979866"/>
            <a:ext cx="36576" cy="131630"/>
          </a:xfrm>
          <a:prstGeom prst="rect">
            <a:avLst/>
          </a:prstGeom>
          <a:solidFill>
            <a:srgbClr val="F0A500">
              <a:alpha val="4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5017291"/>
            <a:ext cx="36576" cy="94205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14032" y="4917228"/>
            <a:ext cx="36576" cy="194268"/>
          </a:xfrm>
          <a:prstGeom prst="rect">
            <a:avLst/>
          </a:prstGeom>
          <a:solidFill>
            <a:srgbClr val="F0A500">
              <a:alpha val="47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735824" y="4874018"/>
            <a:ext cx="36576" cy="237478"/>
          </a:xfrm>
          <a:prstGeom prst="rect">
            <a:avLst/>
          </a:prstGeom>
          <a:solidFill>
            <a:srgbClr val="F0A500">
              <a:alpha val="4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4905285"/>
            <a:ext cx="36576" cy="20621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MPD + MSD 双判别器架构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缺一不可：周期正确 + 局部波形干净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1463040"/>
            <a:ext cx="4023360" cy="228600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1463040"/>
            <a:ext cx="54864" cy="228600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1600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MPD · 多周期判别器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85800" y="2057400"/>
            <a:ext cx="3566160" cy="1097280"/>
          </a:xfrm>
          <a:prstGeom prst="rect">
            <a:avLst/>
          </a:prstGeom>
          <a:noFill/>
          <a:ln/>
        </p:spPr>
        <p:txBody>
          <a:bodyPr wrap="square" lIns="76200" tIns="152400" rIns="76200" bIns="7620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按周期重排 1D → 2D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检查周期结构是否自然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防止：音高抖动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5800" y="3291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只用 MPD → 周期对了但内部波形粗糙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1463040"/>
            <a:ext cx="4023360" cy="228600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1463040"/>
            <a:ext cx="54864" cy="228600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7" name="Text 25"/>
          <p:cNvSpPr/>
          <p:nvPr/>
        </p:nvSpPr>
        <p:spPr>
          <a:xfrm>
            <a:off x="4983480" y="1600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MSD · 多尺度判别器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983480" y="2057400"/>
            <a:ext cx="3566160" cy="1097280"/>
          </a:xfrm>
          <a:prstGeom prst="rect">
            <a:avLst/>
          </a:prstGeom>
          <a:noFill/>
          <a:ln/>
        </p:spPr>
        <p:txBody>
          <a:bodyPr wrap="square" lIns="76200" tIns="152400" rIns="76200" bIns="7620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下采样后看不同尺度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检查整体质感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防止：包络异常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83480" y="3291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只用 MSD → 整体平滑但周期边界模糊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 播放 GL vs HiFi-GAN 对比音频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"/>
            <a:ext cx="8412480" cy="0"/>
          </a:xfrm>
          <a:prstGeom prst="line">
            <a:avLst/>
          </a:prstGeom>
          <a:noFill/>
          <a:ln w="1524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5056632"/>
            <a:ext cx="36576" cy="54864"/>
          </a:xfrm>
          <a:prstGeom prst="rect">
            <a:avLst/>
          </a:prstGeom>
          <a:solidFill>
            <a:srgbClr val="F0A500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4945956"/>
            <a:ext cx="36576" cy="165540"/>
          </a:xfrm>
          <a:prstGeom prst="rect">
            <a:avLst/>
          </a:prstGeom>
          <a:solidFill>
            <a:srgbClr val="F0A500">
              <a:alpha val="2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17904" y="4880416"/>
            <a:ext cx="36576" cy="231080"/>
          </a:xfrm>
          <a:prstGeom prst="rect">
            <a:avLst/>
          </a:prstGeom>
          <a:solidFill>
            <a:srgbClr val="F0A500">
              <a:alpha val="2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39696" y="4886744"/>
            <a:ext cx="36576" cy="224752"/>
          </a:xfrm>
          <a:prstGeom prst="rect">
            <a:avLst/>
          </a:prstGeom>
          <a:solidFill>
            <a:srgbClr val="F0A500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4962357"/>
            <a:ext cx="36576" cy="149139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5036845"/>
            <a:ext cx="36576" cy="74651"/>
          </a:xfrm>
          <a:prstGeom prst="rect">
            <a:avLst/>
          </a:prstGeom>
          <a:solidFill>
            <a:srgbClr val="F0A50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005072" y="4930853"/>
            <a:ext cx="36576" cy="180643"/>
          </a:xfrm>
          <a:prstGeom prst="rect">
            <a:avLst/>
          </a:prstGeom>
          <a:solidFill>
            <a:srgbClr val="F0A500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4876158"/>
            <a:ext cx="36576" cy="235338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248656" y="4895066"/>
            <a:ext cx="36576" cy="216430"/>
          </a:xfrm>
          <a:prstGeom prst="rect">
            <a:avLst/>
          </a:prstGeom>
          <a:solidFill>
            <a:srgbClr val="F0A500">
              <a:alpha val="4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870448" y="4979866"/>
            <a:ext cx="36576" cy="131630"/>
          </a:xfrm>
          <a:prstGeom prst="rect">
            <a:avLst/>
          </a:prstGeom>
          <a:solidFill>
            <a:srgbClr val="F0A500">
              <a:alpha val="4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5017291"/>
            <a:ext cx="36576" cy="94205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14032" y="4917228"/>
            <a:ext cx="36576" cy="194268"/>
          </a:xfrm>
          <a:prstGeom prst="rect">
            <a:avLst/>
          </a:prstGeom>
          <a:solidFill>
            <a:srgbClr val="F0A500">
              <a:alpha val="47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735824" y="4874018"/>
            <a:ext cx="36576" cy="237478"/>
          </a:xfrm>
          <a:prstGeom prst="rect">
            <a:avLst/>
          </a:prstGeom>
          <a:solidFill>
            <a:srgbClr val="F0A500">
              <a:alpha val="4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4905285"/>
            <a:ext cx="36576" cy="20621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阶段3：VITS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端到端 TTS · 文本 → 语音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4400" y="1280160"/>
            <a:ext cx="54864" cy="36576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1" name="Text 19"/>
          <p:cNvSpPr/>
          <p:nvPr/>
        </p:nvSpPr>
        <p:spPr>
          <a:xfrm>
            <a:off x="1188720" y="12801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737360" y="129844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Tacotron2 的两大硬伤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737360" y="1481328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自回归误差累积 + Attention 对齐不稳定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14400" y="1783080"/>
            <a:ext cx="54864" cy="36576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5" name="Text 23"/>
          <p:cNvSpPr/>
          <p:nvPr/>
        </p:nvSpPr>
        <p:spPr>
          <a:xfrm>
            <a:off x="1188720" y="17830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737360" y="18013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VITS 架构概览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737360" y="1984248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 框架：用隐变量 z 替代人工设计的 Mel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14400" y="2286000"/>
            <a:ext cx="54864" cy="36576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9" name="Text 27"/>
          <p:cNvSpPr/>
          <p:nvPr/>
        </p:nvSpPr>
        <p:spPr>
          <a:xfrm>
            <a:off x="118872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737360" y="230428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无监督对齐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737360" y="2487168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动态规划找最优单调路径，不可能跳词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14400" y="2788920"/>
            <a:ext cx="54864" cy="36576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3" name="Text 31"/>
          <p:cNvSpPr/>
          <p:nvPr/>
        </p:nvSpPr>
        <p:spPr>
          <a:xfrm>
            <a:off x="1188720" y="27889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737360" y="280720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SDP 随机时长预测器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737360" y="2990088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预测时长分布，采样带来语速变化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914400" y="3291840"/>
            <a:ext cx="54864" cy="36576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7" name="Text 35"/>
          <p:cNvSpPr/>
          <p:nvPr/>
        </p:nvSpPr>
        <p:spPr>
          <a:xfrm>
            <a:off x="1188720" y="3291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737360" y="33101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Normalizing Flow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737360" y="3493008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把简单高斯「揉捏」成复杂分布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14400" y="3794760"/>
            <a:ext cx="54864" cy="36576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41" name="Text 39"/>
          <p:cNvSpPr/>
          <p:nvPr/>
        </p:nvSpPr>
        <p:spPr>
          <a:xfrm>
            <a:off x="1188720" y="37947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737360" y="381304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 Loss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737360" y="3995928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训练核心推动力 —— 让先验学会后验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14400" y="4297680"/>
            <a:ext cx="54864" cy="36576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45" name="Text 43"/>
          <p:cNvSpPr/>
          <p:nvPr/>
        </p:nvSpPr>
        <p:spPr>
          <a:xfrm>
            <a:off x="1188720" y="42976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1737360" y="43159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VITS 的后续影响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737360" y="4498848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CosyVoice（Flow Matching） + FishSpeech（LLM）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"/>
            <a:ext cx="8412480" cy="0"/>
          </a:xfrm>
          <a:prstGeom prst="line">
            <a:avLst/>
          </a:prstGeom>
          <a:noFill/>
          <a:ln w="1524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5056632"/>
            <a:ext cx="36576" cy="54864"/>
          </a:xfrm>
          <a:prstGeom prst="rect">
            <a:avLst/>
          </a:prstGeom>
          <a:solidFill>
            <a:srgbClr val="F0A500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4945956"/>
            <a:ext cx="36576" cy="165540"/>
          </a:xfrm>
          <a:prstGeom prst="rect">
            <a:avLst/>
          </a:prstGeom>
          <a:solidFill>
            <a:srgbClr val="F0A500">
              <a:alpha val="2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17904" y="4880416"/>
            <a:ext cx="36576" cy="231080"/>
          </a:xfrm>
          <a:prstGeom prst="rect">
            <a:avLst/>
          </a:prstGeom>
          <a:solidFill>
            <a:srgbClr val="F0A500">
              <a:alpha val="2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39696" y="4886744"/>
            <a:ext cx="36576" cy="224752"/>
          </a:xfrm>
          <a:prstGeom prst="rect">
            <a:avLst/>
          </a:prstGeom>
          <a:solidFill>
            <a:srgbClr val="F0A500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4962357"/>
            <a:ext cx="36576" cy="149139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5036845"/>
            <a:ext cx="36576" cy="74651"/>
          </a:xfrm>
          <a:prstGeom prst="rect">
            <a:avLst/>
          </a:prstGeom>
          <a:solidFill>
            <a:srgbClr val="F0A50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005072" y="4930853"/>
            <a:ext cx="36576" cy="180643"/>
          </a:xfrm>
          <a:prstGeom prst="rect">
            <a:avLst/>
          </a:prstGeom>
          <a:solidFill>
            <a:srgbClr val="F0A500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4876158"/>
            <a:ext cx="36576" cy="235338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248656" y="4895066"/>
            <a:ext cx="36576" cy="216430"/>
          </a:xfrm>
          <a:prstGeom prst="rect">
            <a:avLst/>
          </a:prstGeom>
          <a:solidFill>
            <a:srgbClr val="F0A500">
              <a:alpha val="4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870448" y="4979866"/>
            <a:ext cx="36576" cy="131630"/>
          </a:xfrm>
          <a:prstGeom prst="rect">
            <a:avLst/>
          </a:prstGeom>
          <a:solidFill>
            <a:srgbClr val="F0A500">
              <a:alpha val="4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5017291"/>
            <a:ext cx="36576" cy="94205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14032" y="4917228"/>
            <a:ext cx="36576" cy="194268"/>
          </a:xfrm>
          <a:prstGeom prst="rect">
            <a:avLst/>
          </a:prstGeom>
          <a:solidFill>
            <a:srgbClr val="F0A500">
              <a:alpha val="47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735824" y="4874018"/>
            <a:ext cx="36576" cy="237478"/>
          </a:xfrm>
          <a:prstGeom prst="rect">
            <a:avLst/>
          </a:prstGeom>
          <a:solidFill>
            <a:srgbClr val="F0A500">
              <a:alpha val="4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4905285"/>
            <a:ext cx="36576" cy="20621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Tacotron2 的两大硬伤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阶段3 · 为什么需要 VITS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1463040"/>
            <a:ext cx="8229600" cy="137160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1463040"/>
            <a:ext cx="54864" cy="137160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16002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问题 1：自回归误差累积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31520" y="1965960"/>
            <a:ext cx="7680960" cy="731520"/>
          </a:xfrm>
          <a:prstGeom prst="rect">
            <a:avLst/>
          </a:prstGeom>
          <a:noFill/>
          <a:ln/>
        </p:spPr>
        <p:txBody>
          <a:bodyPr wrap="square" lIns="76200" tIns="152400" rIns="76200" bIns="7620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逐帧预测 Mel，一步错步步错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容易 babbling 或尾部崩溃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根本原因：AR 解码无容错机制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3017520"/>
            <a:ext cx="8229600" cy="137160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3017520"/>
            <a:ext cx="54864" cy="137160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1546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问题 2：Soft Attention 对齐不稳定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31520" y="3520440"/>
            <a:ext cx="7680960" cy="731520"/>
          </a:xfrm>
          <a:prstGeom prst="rect">
            <a:avLst/>
          </a:prstGeom>
          <a:noFill/>
          <a:ln/>
        </p:spPr>
        <p:txBody>
          <a:bodyPr wrap="square" lIns="76200" tIns="152400" rIns="76200" bIns="7620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可能跳词、重复词、对齐崩溃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每步动态计算注意力权重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部署最大的拦路虎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VITS 用 MAS + 非自回归架构一次性解决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"/>
            <a:ext cx="8412480" cy="0"/>
          </a:xfrm>
          <a:prstGeom prst="line">
            <a:avLst/>
          </a:prstGeom>
          <a:noFill/>
          <a:ln w="1524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5056632"/>
            <a:ext cx="36576" cy="54864"/>
          </a:xfrm>
          <a:prstGeom prst="rect">
            <a:avLst/>
          </a:prstGeom>
          <a:solidFill>
            <a:srgbClr val="F0A500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4945956"/>
            <a:ext cx="36576" cy="165540"/>
          </a:xfrm>
          <a:prstGeom prst="rect">
            <a:avLst/>
          </a:prstGeom>
          <a:solidFill>
            <a:srgbClr val="F0A500">
              <a:alpha val="2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17904" y="4880416"/>
            <a:ext cx="36576" cy="231080"/>
          </a:xfrm>
          <a:prstGeom prst="rect">
            <a:avLst/>
          </a:prstGeom>
          <a:solidFill>
            <a:srgbClr val="F0A500">
              <a:alpha val="2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39696" y="4886744"/>
            <a:ext cx="36576" cy="224752"/>
          </a:xfrm>
          <a:prstGeom prst="rect">
            <a:avLst/>
          </a:prstGeom>
          <a:solidFill>
            <a:srgbClr val="F0A500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4962357"/>
            <a:ext cx="36576" cy="149139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5036845"/>
            <a:ext cx="36576" cy="74651"/>
          </a:xfrm>
          <a:prstGeom prst="rect">
            <a:avLst/>
          </a:prstGeom>
          <a:solidFill>
            <a:srgbClr val="F0A50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005072" y="4930853"/>
            <a:ext cx="36576" cy="180643"/>
          </a:xfrm>
          <a:prstGeom prst="rect">
            <a:avLst/>
          </a:prstGeom>
          <a:solidFill>
            <a:srgbClr val="F0A500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4876158"/>
            <a:ext cx="36576" cy="235338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248656" y="4895066"/>
            <a:ext cx="36576" cy="216430"/>
          </a:xfrm>
          <a:prstGeom prst="rect">
            <a:avLst/>
          </a:prstGeom>
          <a:solidFill>
            <a:srgbClr val="F0A500">
              <a:alpha val="4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870448" y="4979866"/>
            <a:ext cx="36576" cy="131630"/>
          </a:xfrm>
          <a:prstGeom prst="rect">
            <a:avLst/>
          </a:prstGeom>
          <a:solidFill>
            <a:srgbClr val="F0A500">
              <a:alpha val="4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5017291"/>
            <a:ext cx="36576" cy="94205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14032" y="4917228"/>
            <a:ext cx="36576" cy="194268"/>
          </a:xfrm>
          <a:prstGeom prst="rect">
            <a:avLst/>
          </a:prstGeom>
          <a:solidFill>
            <a:srgbClr val="F0A500">
              <a:alpha val="47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735824" y="4874018"/>
            <a:ext cx="36576" cy="237478"/>
          </a:xfrm>
          <a:prstGeom prst="rect">
            <a:avLst/>
          </a:prstGeom>
          <a:solidFill>
            <a:srgbClr val="F0A500">
              <a:alpha val="4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4905285"/>
            <a:ext cx="36576" cy="20621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VITS 架构概览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 框架 · 端到端 TTS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74320" y="128016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训练流程（有真实音频）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74320" y="1627632"/>
            <a:ext cx="1965960" cy="2560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74320" y="1627632"/>
            <a:ext cx="19659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文本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423160" y="1627632"/>
            <a:ext cx="2148840" cy="2560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423160" y="1627632"/>
            <a:ext cx="214884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真实波形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43000" y="1883664"/>
            <a:ext cx="2743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91840" y="1883664"/>
            <a:ext cx="2743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1993392"/>
            <a:ext cx="1965960" cy="256032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74320" y="1993392"/>
            <a:ext cx="19659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TextEncoder → h_text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423160" y="1993392"/>
            <a:ext cx="2148840" cy="256032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423160" y="1993392"/>
            <a:ext cx="214884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STFT → 线性频谱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43000" y="2249424"/>
            <a:ext cx="2743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291840" y="2249424"/>
            <a:ext cx="2743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4320" y="2359152"/>
            <a:ext cx="1965960" cy="256032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274320" y="2359152"/>
            <a:ext cx="19659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找对齐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423160" y="2359152"/>
            <a:ext cx="2148840" cy="256032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2423160" y="2359152"/>
            <a:ext cx="214884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PosteriorEncoder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43000" y="2615184"/>
            <a:ext cx="2743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291840" y="2615184"/>
            <a:ext cx="2743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74320" y="2724912"/>
            <a:ext cx="1965960" cy="256032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274320" y="2724912"/>
            <a:ext cx="19659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按时长展开到帧级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423160" y="2724912"/>
            <a:ext cx="2148840" cy="256032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2423160" y="2724912"/>
            <a:ext cx="214884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后验分布 q(z|x)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74320" y="2999232"/>
            <a:ext cx="4297680" cy="54864"/>
          </a:xfrm>
          <a:prstGeom prst="rect">
            <a:avLst/>
          </a:prstGeom>
          <a:solidFill>
            <a:srgbClr val="FDF3E7"/>
          </a:solidFill>
          <a:ln/>
        </p:spPr>
      </p:sp>
      <p:sp>
        <p:nvSpPr>
          <p:cNvPr id="44" name="Text 42"/>
          <p:cNvSpPr/>
          <p:nvPr/>
        </p:nvSpPr>
        <p:spPr>
          <a:xfrm>
            <a:off x="274320" y="2999232"/>
            <a:ext cx="429768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↕  KL Loss（让先验学会后验）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" y="3090672"/>
            <a:ext cx="4297680" cy="256032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274320" y="3090672"/>
            <a:ext cx="429768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Normalizing Flow（先验增强）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2286000" y="3346704"/>
            <a:ext cx="2743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74320" y="3456432"/>
            <a:ext cx="4297680" cy="256032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74320" y="3456432"/>
            <a:ext cx="429768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先验分布 p(z|c)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286000" y="3712464"/>
            <a:ext cx="2743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74320" y="3822192"/>
            <a:ext cx="4297680" cy="256032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274320" y="3822192"/>
            <a:ext cx="429768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采样 z（192 维 × T 帧）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2286000" y="4078224"/>
            <a:ext cx="2743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74320" y="4187952"/>
            <a:ext cx="4297680" cy="2560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274320" y="4187952"/>
            <a:ext cx="429768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HiFi-GAN Decoder → 波形 ✓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846320" y="12801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推理流程（只有文本）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4846320" y="1627632"/>
            <a:ext cx="4023360" cy="2560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4846320" y="1627632"/>
            <a:ext cx="40233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文本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720840" y="1883664"/>
            <a:ext cx="2743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846320" y="1993392"/>
            <a:ext cx="4023360" cy="256032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4846320" y="1993392"/>
            <a:ext cx="40233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TextEncoder → h_text（音素级）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720840" y="2249424"/>
            <a:ext cx="2743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846320" y="2359152"/>
            <a:ext cx="4023360" cy="256032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4846320" y="2359152"/>
            <a:ext cx="40233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SDP 随机时长预测器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6720840" y="2615184"/>
            <a:ext cx="2743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846320" y="2724912"/>
            <a:ext cx="4023360" cy="256032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4846320" y="2724912"/>
            <a:ext cx="40233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按时长展开到帧级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720840" y="2980944"/>
            <a:ext cx="2743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846320" y="3090672"/>
            <a:ext cx="4023360" cy="256032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4846320" y="3090672"/>
            <a:ext cx="40233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Normalizing Flow（先验增强）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6720840" y="3346704"/>
            <a:ext cx="2743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4846320" y="3456432"/>
            <a:ext cx="4023360" cy="256032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4846320" y="3456432"/>
            <a:ext cx="40233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先验分布 p(z|c)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6720840" y="3712464"/>
            <a:ext cx="2743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846320" y="3822192"/>
            <a:ext cx="4023360" cy="256032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76" name="Text 74"/>
          <p:cNvSpPr/>
          <p:nvPr/>
        </p:nvSpPr>
        <p:spPr>
          <a:xfrm>
            <a:off x="4846320" y="3822192"/>
            <a:ext cx="40233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采样 z（192 维 × T 帧）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6720840" y="4078224"/>
            <a:ext cx="274320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4846320" y="4187952"/>
            <a:ext cx="4023360" cy="2560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79" name="Text 77"/>
          <p:cNvSpPr/>
          <p:nvPr/>
        </p:nvSpPr>
        <p:spPr>
          <a:xfrm>
            <a:off x="4846320" y="4187952"/>
            <a:ext cx="40233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HiFi-GAN Decoder → 波形 ✓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457200" y="453542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 vs 推理的关键区别：MAS 需要真实音频算 z → 推理时用 SDP 预测时长替代；PosteriorEncoder 训练后丢弃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"/>
            <a:ext cx="8412480" cy="0"/>
          </a:xfrm>
          <a:prstGeom prst="line">
            <a:avLst/>
          </a:prstGeom>
          <a:noFill/>
          <a:ln w="1524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5056632"/>
            <a:ext cx="36576" cy="54864"/>
          </a:xfrm>
          <a:prstGeom prst="rect">
            <a:avLst/>
          </a:prstGeom>
          <a:solidFill>
            <a:srgbClr val="F0A500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4945956"/>
            <a:ext cx="36576" cy="165540"/>
          </a:xfrm>
          <a:prstGeom prst="rect">
            <a:avLst/>
          </a:prstGeom>
          <a:solidFill>
            <a:srgbClr val="F0A500">
              <a:alpha val="2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17904" y="4880416"/>
            <a:ext cx="36576" cy="231080"/>
          </a:xfrm>
          <a:prstGeom prst="rect">
            <a:avLst/>
          </a:prstGeom>
          <a:solidFill>
            <a:srgbClr val="F0A500">
              <a:alpha val="2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39696" y="4886744"/>
            <a:ext cx="36576" cy="224752"/>
          </a:xfrm>
          <a:prstGeom prst="rect">
            <a:avLst/>
          </a:prstGeom>
          <a:solidFill>
            <a:srgbClr val="F0A500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4962357"/>
            <a:ext cx="36576" cy="149139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5036845"/>
            <a:ext cx="36576" cy="74651"/>
          </a:xfrm>
          <a:prstGeom prst="rect">
            <a:avLst/>
          </a:prstGeom>
          <a:solidFill>
            <a:srgbClr val="F0A50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005072" y="4930853"/>
            <a:ext cx="36576" cy="180643"/>
          </a:xfrm>
          <a:prstGeom prst="rect">
            <a:avLst/>
          </a:prstGeom>
          <a:solidFill>
            <a:srgbClr val="F0A500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4876158"/>
            <a:ext cx="36576" cy="235338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248656" y="4895066"/>
            <a:ext cx="36576" cy="216430"/>
          </a:xfrm>
          <a:prstGeom prst="rect">
            <a:avLst/>
          </a:prstGeom>
          <a:solidFill>
            <a:srgbClr val="F0A500">
              <a:alpha val="4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870448" y="4979866"/>
            <a:ext cx="36576" cy="131630"/>
          </a:xfrm>
          <a:prstGeom prst="rect">
            <a:avLst/>
          </a:prstGeom>
          <a:solidFill>
            <a:srgbClr val="F0A500">
              <a:alpha val="4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5017291"/>
            <a:ext cx="36576" cy="94205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14032" y="4917228"/>
            <a:ext cx="36576" cy="194268"/>
          </a:xfrm>
          <a:prstGeom prst="rect">
            <a:avLst/>
          </a:prstGeom>
          <a:solidFill>
            <a:srgbClr val="F0A500">
              <a:alpha val="47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735824" y="4874018"/>
            <a:ext cx="36576" cy="237478"/>
          </a:xfrm>
          <a:prstGeom prst="rect">
            <a:avLst/>
          </a:prstGeom>
          <a:solidFill>
            <a:srgbClr val="F0A500">
              <a:alpha val="4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4905285"/>
            <a:ext cx="36576" cy="20621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MAS：无监督自动对齐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动态规划找最优单调路径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问题：10 个音素 vs 200 帧 → 谁对应谁？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1920240"/>
            <a:ext cx="2697480" cy="118872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1920240"/>
            <a:ext cx="2697480" cy="3657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20574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构造相似度矩阵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94360" y="24231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h_text[音素] 和 z[帧] 的余弦相似度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337560" y="1920240"/>
            <a:ext cx="2697480" cy="118872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337560" y="1920240"/>
            <a:ext cx="2697480" cy="3657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7" name="Text 25"/>
          <p:cNvSpPr/>
          <p:nvPr/>
        </p:nvSpPr>
        <p:spPr>
          <a:xfrm>
            <a:off x="3474720" y="20574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动态规划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474720" y="24231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DP[i,j] = max(DP[i-1,j-1], DP[i,j-1]) + sim[i,j]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17920" y="1920240"/>
            <a:ext cx="2697480" cy="118872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17920" y="1920240"/>
            <a:ext cx="2697480" cy="3657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1" name="Text 29"/>
          <p:cNvSpPr/>
          <p:nvPr/>
        </p:nvSpPr>
        <p:spPr>
          <a:xfrm>
            <a:off x="6355080" y="20574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提取时长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355080" y="24231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数每个音素覆盖了多少帧 → 时长序列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约束：单调 · 连续 · 每个音素至少 1 帧 · 起点终点固定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033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429000"/>
                <a:gridCol w="34290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34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Tacotron2 Attention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34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VITS MAS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对齐方式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每步动态计算（soft）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全局搜索最优（hard）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单调性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 间接约束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算法内建，数学保证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稳定性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可能跳词/重复/崩溃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不可能跳词/重复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"/>
            <a:ext cx="8412480" cy="0"/>
          </a:xfrm>
          <a:prstGeom prst="line">
            <a:avLst/>
          </a:prstGeom>
          <a:noFill/>
          <a:ln w="1524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5056632"/>
            <a:ext cx="36576" cy="54864"/>
          </a:xfrm>
          <a:prstGeom prst="rect">
            <a:avLst/>
          </a:prstGeom>
          <a:solidFill>
            <a:srgbClr val="F0A500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4945956"/>
            <a:ext cx="36576" cy="165540"/>
          </a:xfrm>
          <a:prstGeom prst="rect">
            <a:avLst/>
          </a:prstGeom>
          <a:solidFill>
            <a:srgbClr val="F0A500">
              <a:alpha val="2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17904" y="4880416"/>
            <a:ext cx="36576" cy="231080"/>
          </a:xfrm>
          <a:prstGeom prst="rect">
            <a:avLst/>
          </a:prstGeom>
          <a:solidFill>
            <a:srgbClr val="F0A500">
              <a:alpha val="2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39696" y="4886744"/>
            <a:ext cx="36576" cy="224752"/>
          </a:xfrm>
          <a:prstGeom prst="rect">
            <a:avLst/>
          </a:prstGeom>
          <a:solidFill>
            <a:srgbClr val="F0A500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4962357"/>
            <a:ext cx="36576" cy="149139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5036845"/>
            <a:ext cx="36576" cy="74651"/>
          </a:xfrm>
          <a:prstGeom prst="rect">
            <a:avLst/>
          </a:prstGeom>
          <a:solidFill>
            <a:srgbClr val="F0A50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005072" y="4930853"/>
            <a:ext cx="36576" cy="180643"/>
          </a:xfrm>
          <a:prstGeom prst="rect">
            <a:avLst/>
          </a:prstGeom>
          <a:solidFill>
            <a:srgbClr val="F0A500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4876158"/>
            <a:ext cx="36576" cy="235338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248656" y="4895066"/>
            <a:ext cx="36576" cy="216430"/>
          </a:xfrm>
          <a:prstGeom prst="rect">
            <a:avLst/>
          </a:prstGeom>
          <a:solidFill>
            <a:srgbClr val="F0A500">
              <a:alpha val="4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870448" y="4979866"/>
            <a:ext cx="36576" cy="131630"/>
          </a:xfrm>
          <a:prstGeom prst="rect">
            <a:avLst/>
          </a:prstGeom>
          <a:solidFill>
            <a:srgbClr val="F0A500">
              <a:alpha val="4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5017291"/>
            <a:ext cx="36576" cy="94205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14032" y="4917228"/>
            <a:ext cx="36576" cy="194268"/>
          </a:xfrm>
          <a:prstGeom prst="rect">
            <a:avLst/>
          </a:prstGeom>
          <a:solidFill>
            <a:srgbClr val="F0A500">
              <a:alpha val="47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735824" y="4874018"/>
            <a:ext cx="36576" cy="237478"/>
          </a:xfrm>
          <a:prstGeom prst="rect">
            <a:avLst/>
          </a:prstGeom>
          <a:solidFill>
            <a:srgbClr val="F0A500">
              <a:alpha val="4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4905285"/>
            <a:ext cx="36576" cy="20621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SDP：随机时长预测器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MAS「能看不能用」→ SDP 来替代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为什么需要 SDP？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76200" tIns="152400" rIns="76200" bIns="7620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需要真实音频的 z 才能算对齐 → 推理时没有 → 不能跑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训练时用 MAS 得到「标准答案」时长 d → 推理时需要不看音频就能预测时长的模块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2468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为什么是「随机」的？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2880360"/>
            <a:ext cx="4023360" cy="105156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2880360"/>
            <a:ext cx="54864" cy="105156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2971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确定性预测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" y="3291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/a/ → 4 帧（每次一样）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5800" y="3566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机器人感，缺少自然变化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54880" y="2880360"/>
            <a:ext cx="4023360" cy="105156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54880" y="2880360"/>
            <a:ext cx="54864" cy="105156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0" name="Text 28"/>
          <p:cNvSpPr/>
          <p:nvPr/>
        </p:nvSpPr>
        <p:spPr>
          <a:xfrm>
            <a:off x="4983480" y="2971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SDP 分布预测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983480" y="3291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/a/ → 𝒩(4, 0.5)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83480" y="3566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每次采样不同 → 语速自然变化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精妙之处：SDP 学习 MAS 自动发现的时长 — 互相配合但互不依赖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420624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D34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训练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D34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推理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时长来源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MAS（需真实音频）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SDP 采样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SDP 在干嘛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学习 — 最大化 MAS 时长的似然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干活 — 从学到的分布采样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Log-Likelihood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"/>
            <a:ext cx="8412480" cy="0"/>
          </a:xfrm>
          <a:prstGeom prst="line">
            <a:avLst/>
          </a:prstGeom>
          <a:noFill/>
          <a:ln w="1524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5056632"/>
            <a:ext cx="36576" cy="54864"/>
          </a:xfrm>
          <a:prstGeom prst="rect">
            <a:avLst/>
          </a:prstGeom>
          <a:solidFill>
            <a:srgbClr val="F0A500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4945956"/>
            <a:ext cx="36576" cy="165540"/>
          </a:xfrm>
          <a:prstGeom prst="rect">
            <a:avLst/>
          </a:prstGeom>
          <a:solidFill>
            <a:srgbClr val="F0A500">
              <a:alpha val="2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17904" y="4880416"/>
            <a:ext cx="36576" cy="231080"/>
          </a:xfrm>
          <a:prstGeom prst="rect">
            <a:avLst/>
          </a:prstGeom>
          <a:solidFill>
            <a:srgbClr val="F0A500">
              <a:alpha val="2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39696" y="4886744"/>
            <a:ext cx="36576" cy="224752"/>
          </a:xfrm>
          <a:prstGeom prst="rect">
            <a:avLst/>
          </a:prstGeom>
          <a:solidFill>
            <a:srgbClr val="F0A500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4962357"/>
            <a:ext cx="36576" cy="149139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5036845"/>
            <a:ext cx="36576" cy="74651"/>
          </a:xfrm>
          <a:prstGeom prst="rect">
            <a:avLst/>
          </a:prstGeom>
          <a:solidFill>
            <a:srgbClr val="F0A50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005072" y="4930853"/>
            <a:ext cx="36576" cy="180643"/>
          </a:xfrm>
          <a:prstGeom prst="rect">
            <a:avLst/>
          </a:prstGeom>
          <a:solidFill>
            <a:srgbClr val="F0A500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4876158"/>
            <a:ext cx="36576" cy="235338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248656" y="4895066"/>
            <a:ext cx="36576" cy="216430"/>
          </a:xfrm>
          <a:prstGeom prst="rect">
            <a:avLst/>
          </a:prstGeom>
          <a:solidFill>
            <a:srgbClr val="F0A500">
              <a:alpha val="4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870448" y="4979866"/>
            <a:ext cx="36576" cy="131630"/>
          </a:xfrm>
          <a:prstGeom prst="rect">
            <a:avLst/>
          </a:prstGeom>
          <a:solidFill>
            <a:srgbClr val="F0A500">
              <a:alpha val="4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5017291"/>
            <a:ext cx="36576" cy="94205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14032" y="4917228"/>
            <a:ext cx="36576" cy="194268"/>
          </a:xfrm>
          <a:prstGeom prst="rect">
            <a:avLst/>
          </a:prstGeom>
          <a:solidFill>
            <a:srgbClr val="F0A500">
              <a:alpha val="47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735824" y="4874018"/>
            <a:ext cx="36576" cy="237478"/>
          </a:xfrm>
          <a:prstGeom prst="rect">
            <a:avLst/>
          </a:prstGeom>
          <a:solidFill>
            <a:srgbClr val="F0A500">
              <a:alpha val="4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4905285"/>
            <a:ext cx="36576" cy="20621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Normalizing Flow：先验增强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把简单高斯「揉捏」成复杂分布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1463040"/>
            <a:ext cx="4023360" cy="109728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600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问题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85800" y="1965960"/>
            <a:ext cx="3566160" cy="457200"/>
          </a:xfrm>
          <a:prstGeom prst="rect">
            <a:avLst/>
          </a:prstGeom>
          <a:noFill/>
          <a:ln/>
        </p:spPr>
        <p:txBody>
          <a:bodyPr wrap="square" lIns="76200" tIns="152400" rIns="76200" bIns="7620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先验 p(z|c) 是简单高斯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不够灵活 — 语音先验分布很复杂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1463040"/>
            <a:ext cx="40233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54880" y="1463040"/>
            <a:ext cx="4023360" cy="3657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1600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方案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983480" y="1965960"/>
            <a:ext cx="3566160" cy="457200"/>
          </a:xfrm>
          <a:prstGeom prst="rect">
            <a:avLst/>
          </a:prstGeom>
          <a:noFill/>
          <a:ln/>
        </p:spPr>
        <p:txBody>
          <a:bodyPr wrap="square" lIns="76200" tIns="152400" rIns="76200" bIns="7620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层把高斯「揉捏」成复杂形状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层交替切分通道，逐层增强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Affine Coupling Layer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57200" y="3154680"/>
            <a:ext cx="8229600" cy="164592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31520" y="3200400"/>
            <a:ext cx="7680960" cy="11887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 z  →  切半  →  </a:t>
            </a:r>
            <a:pPr indent="0" marL="0">
              <a:buNone/>
            </a:pPr>
            <a:r>
              <a:rPr lang="en-US" sz="1200" b="1" dirty="0">
                <a:solidFill>
                  <a:srgbClr val="F0A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z₁</a:t>
            </a:r>
            <a:pPr indent="0" marL="0">
              <a:buNone/>
            </a:pPr>
            <a:r>
              <a:rPr lang="en-US" sz="1200" dirty="0">
                <a:solidFill>
                  <a:srgbClr val="636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直接通过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36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→  </a:t>
            </a:r>
            <a:pPr indent="0" marL="0">
              <a:buNone/>
            </a:pPr>
            <a:r>
              <a:rPr lang="en-US" sz="1200" b="1" dirty="0">
                <a:solidFill>
                  <a:srgbClr val="F0A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z₁</a:t>
            </a:r>
            <a:pPr indent="0" marL="0">
              <a:buNone/>
            </a:pPr>
            <a:r>
              <a:rPr lang="en-US" sz="1200" dirty="0">
                <a:solidFill>
                  <a:srgbClr val="636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NN  →  scale, shift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36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→  </a:t>
            </a:r>
            <a:pPr indent="0" marL="0">
              <a:buNone/>
            </a:pPr>
            <a:r>
              <a:rPr lang="en-US" sz="1200" dirty="0">
                <a:solidFill>
                  <a:srgbClr val="F0A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z₂' = z₂ × exp(scale) + shift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36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拼接  z₁ + z₂'  →  输出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关键优势：可逆 — 反向只需算术逆，NN 不需要可逆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"/>
            <a:ext cx="8412480" cy="0"/>
          </a:xfrm>
          <a:prstGeom prst="line">
            <a:avLst/>
          </a:prstGeom>
          <a:noFill/>
          <a:ln w="1524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5056632"/>
            <a:ext cx="36576" cy="54864"/>
          </a:xfrm>
          <a:prstGeom prst="rect">
            <a:avLst/>
          </a:prstGeom>
          <a:solidFill>
            <a:srgbClr val="F0A500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4945956"/>
            <a:ext cx="36576" cy="165540"/>
          </a:xfrm>
          <a:prstGeom prst="rect">
            <a:avLst/>
          </a:prstGeom>
          <a:solidFill>
            <a:srgbClr val="F0A500">
              <a:alpha val="2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17904" y="4880416"/>
            <a:ext cx="36576" cy="231080"/>
          </a:xfrm>
          <a:prstGeom prst="rect">
            <a:avLst/>
          </a:prstGeom>
          <a:solidFill>
            <a:srgbClr val="F0A500">
              <a:alpha val="2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39696" y="4886744"/>
            <a:ext cx="36576" cy="224752"/>
          </a:xfrm>
          <a:prstGeom prst="rect">
            <a:avLst/>
          </a:prstGeom>
          <a:solidFill>
            <a:srgbClr val="F0A500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4962357"/>
            <a:ext cx="36576" cy="149139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5036845"/>
            <a:ext cx="36576" cy="74651"/>
          </a:xfrm>
          <a:prstGeom prst="rect">
            <a:avLst/>
          </a:prstGeom>
          <a:solidFill>
            <a:srgbClr val="F0A50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005072" y="4930853"/>
            <a:ext cx="36576" cy="180643"/>
          </a:xfrm>
          <a:prstGeom prst="rect">
            <a:avLst/>
          </a:prstGeom>
          <a:solidFill>
            <a:srgbClr val="F0A500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4876158"/>
            <a:ext cx="36576" cy="235338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248656" y="4895066"/>
            <a:ext cx="36576" cy="216430"/>
          </a:xfrm>
          <a:prstGeom prst="rect">
            <a:avLst/>
          </a:prstGeom>
          <a:solidFill>
            <a:srgbClr val="F0A500">
              <a:alpha val="4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870448" y="4979866"/>
            <a:ext cx="36576" cy="131630"/>
          </a:xfrm>
          <a:prstGeom prst="rect">
            <a:avLst/>
          </a:prstGeom>
          <a:solidFill>
            <a:srgbClr val="F0A500">
              <a:alpha val="4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5017291"/>
            <a:ext cx="36576" cy="94205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14032" y="4917228"/>
            <a:ext cx="36576" cy="194268"/>
          </a:xfrm>
          <a:prstGeom prst="rect">
            <a:avLst/>
          </a:prstGeom>
          <a:solidFill>
            <a:srgbClr val="F0A500">
              <a:alpha val="47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735824" y="4874018"/>
            <a:ext cx="36576" cy="237478"/>
          </a:xfrm>
          <a:prstGeom prst="rect">
            <a:avLst/>
          </a:prstGeom>
          <a:solidFill>
            <a:srgbClr val="F0A500">
              <a:alpha val="4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4905285"/>
            <a:ext cx="36576" cy="20621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 Loss：训练的核心推动力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让先验学会后验 — 知识蒸馏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1463040"/>
            <a:ext cx="4023360" cy="137160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1463040"/>
            <a:ext cx="54864" cy="137160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15544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后验路径（训练「标准答案」）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" y="1920240"/>
            <a:ext cx="3566160" cy="731520"/>
          </a:xfrm>
          <a:prstGeom prst="rect">
            <a:avLst/>
          </a:prstGeom>
          <a:noFill/>
          <a:ln/>
        </p:spPr>
        <p:txBody>
          <a:bodyPr wrap="square" lIns="76200" tIns="152400" rIns="76200" bIns="7620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真实音频 → PosteriorEncoder → q(z|x)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质量好，但推理时不可用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54880" y="1463040"/>
            <a:ext cx="4023360" cy="137160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1463040"/>
            <a:ext cx="54864" cy="137160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6" name="Text 24"/>
          <p:cNvSpPr/>
          <p:nvPr/>
        </p:nvSpPr>
        <p:spPr>
          <a:xfrm>
            <a:off x="4983480" y="15544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先验路径（推理时可用）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983480" y="1920240"/>
            <a:ext cx="3566160" cy="731520"/>
          </a:xfrm>
          <a:prstGeom prst="rect">
            <a:avLst/>
          </a:prstGeom>
          <a:noFill/>
          <a:ln/>
        </p:spPr>
        <p:txBody>
          <a:bodyPr wrap="square" lIns="76200" tIns="152400" rIns="76200" bIns="7620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文本 → TextEncoder → p(z|c)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推理时使用，但刚开始不准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3017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KL(q(z|x) || p(z|c)) → 越小 → 先验越接近后验 → 推理质量越高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3566160"/>
            <a:ext cx="8229600" cy="128016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7200" y="3566160"/>
            <a:ext cx="54864" cy="128016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36576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对比 Tacotron2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31520" y="4023360"/>
            <a:ext cx="7680960" cy="502920"/>
          </a:xfrm>
          <a:prstGeom prst="rect">
            <a:avLst/>
          </a:prstGeom>
          <a:noFill/>
          <a:ln/>
        </p:spPr>
        <p:txBody>
          <a:bodyPr wrap="square" lIns="76200" tIns="152400" rIns="76200" bIns="7620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Tacotron2 训练时没有「后验路径」— 直接在预测 Mel 上算 L1 loss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VITS 的 KL Loss 让先验和后验在隐空间层面做匹配，比纯输出层监督更本质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"/>
            <a:ext cx="8412480" cy="0"/>
          </a:xfrm>
          <a:prstGeom prst="line">
            <a:avLst/>
          </a:prstGeom>
          <a:noFill/>
          <a:ln w="1524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5056632"/>
            <a:ext cx="36576" cy="54864"/>
          </a:xfrm>
          <a:prstGeom prst="rect">
            <a:avLst/>
          </a:prstGeom>
          <a:solidFill>
            <a:srgbClr val="F0A500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4945956"/>
            <a:ext cx="36576" cy="165540"/>
          </a:xfrm>
          <a:prstGeom prst="rect">
            <a:avLst/>
          </a:prstGeom>
          <a:solidFill>
            <a:srgbClr val="F0A500">
              <a:alpha val="2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17904" y="4880416"/>
            <a:ext cx="36576" cy="231080"/>
          </a:xfrm>
          <a:prstGeom prst="rect">
            <a:avLst/>
          </a:prstGeom>
          <a:solidFill>
            <a:srgbClr val="F0A500">
              <a:alpha val="2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39696" y="4886744"/>
            <a:ext cx="36576" cy="224752"/>
          </a:xfrm>
          <a:prstGeom prst="rect">
            <a:avLst/>
          </a:prstGeom>
          <a:solidFill>
            <a:srgbClr val="F0A500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4962357"/>
            <a:ext cx="36576" cy="149139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5036845"/>
            <a:ext cx="36576" cy="74651"/>
          </a:xfrm>
          <a:prstGeom prst="rect">
            <a:avLst/>
          </a:prstGeom>
          <a:solidFill>
            <a:srgbClr val="F0A50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005072" y="4930853"/>
            <a:ext cx="36576" cy="180643"/>
          </a:xfrm>
          <a:prstGeom prst="rect">
            <a:avLst/>
          </a:prstGeom>
          <a:solidFill>
            <a:srgbClr val="F0A500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4876158"/>
            <a:ext cx="36576" cy="235338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248656" y="4895066"/>
            <a:ext cx="36576" cy="216430"/>
          </a:xfrm>
          <a:prstGeom prst="rect">
            <a:avLst/>
          </a:prstGeom>
          <a:solidFill>
            <a:srgbClr val="F0A500">
              <a:alpha val="4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870448" y="4979866"/>
            <a:ext cx="36576" cy="131630"/>
          </a:xfrm>
          <a:prstGeom prst="rect">
            <a:avLst/>
          </a:prstGeom>
          <a:solidFill>
            <a:srgbClr val="F0A500">
              <a:alpha val="4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5017291"/>
            <a:ext cx="36576" cy="94205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14032" y="4917228"/>
            <a:ext cx="36576" cy="194268"/>
          </a:xfrm>
          <a:prstGeom prst="rect">
            <a:avLst/>
          </a:prstGeom>
          <a:solidFill>
            <a:srgbClr val="F0A500">
              <a:alpha val="47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735824" y="4874018"/>
            <a:ext cx="36576" cy="237478"/>
          </a:xfrm>
          <a:prstGeom prst="rect">
            <a:avLst/>
          </a:prstGeom>
          <a:solidFill>
            <a:srgbClr val="F0A500">
              <a:alpha val="4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4905285"/>
            <a:ext cx="36576" cy="20621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VITS 的后续影响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 分岔为两条路线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560320" y="14630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VITS  (VAE + Flow + 端到端)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2560320" y="1417320"/>
            <a:ext cx="40233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560320" y="1417320"/>
            <a:ext cx="4023360" cy="5943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926080" y="1965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0A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120640" y="1965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0A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┐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457200" y="2468880"/>
            <a:ext cx="4023360" cy="146304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2468880"/>
            <a:ext cx="4023360" cy="3657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CosyVoice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40080" y="2971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Matching + 连续表示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32918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质量上限高，架构自由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可用 Transformer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754880" y="2468880"/>
            <a:ext cx="4023360" cy="1463040"/>
          </a:xfrm>
          <a:prstGeom prst="rect">
            <a:avLst/>
          </a:prstGeom>
          <a:solidFill>
            <a:srgbClr val="FDF3E7"/>
          </a:solidFill>
          <a:ln/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754880" y="2468880"/>
            <a:ext cx="4023360" cy="3657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2" name="Text 30"/>
          <p:cNvSpPr/>
          <p:nvPr/>
        </p:nvSpPr>
        <p:spPr>
          <a:xfrm>
            <a:off x="493776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FishSpeech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4937760" y="2971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离散 token + LLM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937760" y="32918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享受 Scaling Law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可扩展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三条路线演化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76200" tIns="152400" rIns="76200" bIns="7620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Tacotron2 → VITS：AR→NAR，两阶段→端到端，MAS 解决对齐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VITS → CosyVoice：Flow→Flow Matching，可用 Transformer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VITS → FishSpeech：连续隐变量→离散 token，接入 LLM 生态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"/>
            <a:ext cx="8412480" cy="0"/>
          </a:xfrm>
          <a:prstGeom prst="line">
            <a:avLst/>
          </a:prstGeom>
          <a:noFill/>
          <a:ln w="15240">
            <a:solidFill>
              <a:srgbClr val="F0A5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82296"/>
            <a:ext cx="109728" cy="1097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5056632"/>
            <a:ext cx="36576" cy="54864"/>
          </a:xfrm>
          <a:prstGeom prst="rect">
            <a:avLst/>
          </a:prstGeom>
          <a:solidFill>
            <a:srgbClr val="F0A500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4945956"/>
            <a:ext cx="36576" cy="165540"/>
          </a:xfrm>
          <a:prstGeom prst="rect">
            <a:avLst/>
          </a:prstGeom>
          <a:solidFill>
            <a:srgbClr val="F0A500">
              <a:alpha val="27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517904" y="4880416"/>
            <a:ext cx="36576" cy="231080"/>
          </a:xfrm>
          <a:prstGeom prst="rect">
            <a:avLst/>
          </a:prstGeom>
          <a:solidFill>
            <a:srgbClr val="F0A500">
              <a:alpha val="29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39696" y="4886744"/>
            <a:ext cx="36576" cy="224752"/>
          </a:xfrm>
          <a:prstGeom prst="rect">
            <a:avLst/>
          </a:prstGeom>
          <a:solidFill>
            <a:srgbClr val="F0A500">
              <a:alpha val="31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4962357"/>
            <a:ext cx="36576" cy="149139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5036845"/>
            <a:ext cx="36576" cy="74651"/>
          </a:xfrm>
          <a:prstGeom prst="rect">
            <a:avLst/>
          </a:prstGeom>
          <a:solidFill>
            <a:srgbClr val="F0A500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005072" y="4930853"/>
            <a:ext cx="36576" cy="180643"/>
          </a:xfrm>
          <a:prstGeom prst="rect">
            <a:avLst/>
          </a:prstGeom>
          <a:solidFill>
            <a:srgbClr val="F0A500">
              <a:alpha val="37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626864" y="4876158"/>
            <a:ext cx="36576" cy="235338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248656" y="4895066"/>
            <a:ext cx="36576" cy="216430"/>
          </a:xfrm>
          <a:prstGeom prst="rect">
            <a:avLst/>
          </a:prstGeom>
          <a:solidFill>
            <a:srgbClr val="F0A500">
              <a:alpha val="41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5870448" y="4979866"/>
            <a:ext cx="36576" cy="131630"/>
          </a:xfrm>
          <a:prstGeom prst="rect">
            <a:avLst/>
          </a:prstGeom>
          <a:solidFill>
            <a:srgbClr val="F0A500">
              <a:alpha val="4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5017291"/>
            <a:ext cx="36576" cy="94205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114032" y="4917228"/>
            <a:ext cx="36576" cy="194268"/>
          </a:xfrm>
          <a:prstGeom prst="rect">
            <a:avLst/>
          </a:prstGeom>
          <a:solidFill>
            <a:srgbClr val="F0A500">
              <a:alpha val="47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735824" y="4874018"/>
            <a:ext cx="36576" cy="237478"/>
          </a:xfrm>
          <a:prstGeom prst="rect">
            <a:avLst/>
          </a:prstGeom>
          <a:solidFill>
            <a:srgbClr val="F0A500">
              <a:alpha val="49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57616" y="4905285"/>
            <a:ext cx="36576" cy="20621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三阶段技术接力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总结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463040"/>
                <a:gridCol w="219456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34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阶段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34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输入 → 输出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34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核心问题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34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解决方案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 频谱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波形 → Mel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波形太「死板」，维度高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 感知压缩，80维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HiFi-GAN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 → 波形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 重建质量差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36E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 + MPD/MSD 双判别器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A5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A5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文本 → 波形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A5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 误差 + 对齐不稳定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0A5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 对齐 + NAR + VAE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3337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完整链路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0A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「大家好」 → 音素 /d/a/j/i/a/h/a/o/ → TextEncoder → z → HiFi-GAN → 波形 ✓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D3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VITS 用隐变量 z 替代 Mel — TTS 从「手工设计」走向「端到端学习」的分水岭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54864" cy="73152"/>
          </a:xfrm>
          <a:prstGeom prst="rect">
            <a:avLst/>
          </a:prstGeom>
          <a:solidFill>
            <a:srgbClr val="F0A50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70432" y="274320"/>
            <a:ext cx="54864" cy="220420"/>
          </a:xfrm>
          <a:prstGeom prst="rect">
            <a:avLst/>
          </a:prstGeom>
          <a:solidFill>
            <a:srgbClr val="F0A500">
              <a:alpha val="33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883664" y="274320"/>
            <a:ext cx="54864" cy="298426"/>
          </a:xfrm>
          <a:prstGeom prst="rect">
            <a:avLst/>
          </a:prstGeom>
          <a:solidFill>
            <a:srgbClr val="F0A500">
              <a:alpha val="3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596896" y="274320"/>
            <a:ext cx="54864" cy="270482"/>
          </a:xfrm>
          <a:prstGeom prst="rect">
            <a:avLst/>
          </a:prstGeom>
          <a:solidFill>
            <a:srgbClr val="F0A500">
              <a:alpha val="39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3310128" y="274320"/>
            <a:ext cx="54864" cy="149730"/>
          </a:xfrm>
          <a:prstGeom prst="rect">
            <a:avLst/>
          </a:prstGeom>
          <a:solidFill>
            <a:srgbClr val="F0A500">
              <a:alpha val="4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4023360" y="274320"/>
            <a:ext cx="54864" cy="153341"/>
          </a:xfrm>
          <a:prstGeom prst="rect">
            <a:avLst/>
          </a:prstGeom>
          <a:solidFill>
            <a:srgbClr val="F0A500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4736592" y="274320"/>
            <a:ext cx="54864" cy="272394"/>
          </a:xfrm>
          <a:prstGeom prst="rect">
            <a:avLst/>
          </a:prstGeom>
          <a:solidFill>
            <a:srgbClr val="F0A500">
              <a:alpha val="4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449824" y="274320"/>
            <a:ext cx="54864" cy="297741"/>
          </a:xfrm>
          <a:prstGeom prst="rect">
            <a:avLst/>
          </a:prstGeom>
          <a:solidFill>
            <a:srgbClr val="F0A500">
              <a:alpha val="51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163056" y="274320"/>
            <a:ext cx="54864" cy="217460"/>
          </a:xfrm>
          <a:prstGeom prst="rect">
            <a:avLst/>
          </a:prstGeom>
          <a:solidFill>
            <a:srgbClr val="F0A500">
              <a:alpha val="5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6876288" y="274320"/>
            <a:ext cx="54864" cy="76996"/>
          </a:xfrm>
          <a:prstGeom prst="rect">
            <a:avLst/>
          </a:prstGeom>
          <a:solidFill>
            <a:srgbClr val="F0A500">
              <a:alpha val="57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274320"/>
            <a:ext cx="54864" cy="223339"/>
          </a:xfrm>
          <a:prstGeom prst="rect">
            <a:avLst/>
          </a:prstGeom>
          <a:solidFill>
            <a:srgbClr val="F0A500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8302752" y="274320"/>
            <a:ext cx="54864" cy="299047"/>
          </a:xfrm>
          <a:prstGeom prst="rect">
            <a:avLst/>
          </a:prstGeom>
          <a:solidFill>
            <a:srgbClr val="F0A500">
              <a:alpha val="63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645920"/>
            <a:ext cx="73152" cy="182880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16459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548640" y="2468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从 Mel 频谱到 VITS——TTS 学习之路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4864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C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下次分享：LLM-based TTS 原理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D34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 &amp; A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 Mel 频谱到 VITS——TTS 学习之路</dc:title>
  <dc:subject>PptxGenJS Presentation</dc:subject>
  <dc:creator>LearnTTS</dc:creator>
  <cp:lastModifiedBy>LearnTTS</cp:lastModifiedBy>
  <cp:revision>1</cp:revision>
  <dcterms:created xsi:type="dcterms:W3CDTF">2026-06-12T04:04:23Z</dcterms:created>
  <dcterms:modified xsi:type="dcterms:W3CDTF">2026-06-12T04:04:23Z</dcterms:modified>
</cp:coreProperties>
</file>